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Buenas tardes. Me llamo Rogelio Flores Rodríguez y estudio Ingeniería en Software en la Universidad Autónoma de Zacatecas. Esta es la presentación de avance de mi tesis para el Seminario de Tesis, con la dirección de la doctora Julieta Guadalupe Rodríguez Ruiz. Mi tesis es sobre cómo calcular desde el principio cuánto va a costar y cuánto va a tardar un sistema de software para un municipio. Hice un sistema que ya funciona en internet y se los voy a enseñar. Voy a hablar de tres cosas: primero, cuál es el problema y cómo cambió con la inteligencia artificial; segundo, qué probé ya con datos; y tercero, cómo lo voy a probar con ayuntamientos y con desarrolladores en lo que queda del semestre.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problema tiene dos lados. De un lado está el Ayuntamiento: una oficina de Catastro o de Tesorería necesita un sistema, recibe varias cotizaciones y no tiene con qué compararlas. Tampoco sabe si el que cotizó más barato va a poder terminar. Del otro lado está el proveedor, que muchas veces es una persona o una empresa de tres o cuatro. Sabe programar, pero no sabe cuánto cobrar. Si cobra caro, pierde el contrato. Si cobra barato, se queda sin dinero a la mitad y no termina. Y esto no es una impresión mía. En un conjunto de ciento veinte proyectos reales, ocho de cada diez costaron más de lo que se había estimado. Y de más de cuatro mil tareas estimadas por expertos, solo cuatro de cada diez quedaron cerca del valor real. Estimar mal es lo normal, no la excepción.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pregunta de siempre en esta área es cuántas horas de programación lleva un sistema. El asunto es que la forma de hacer software está cambiando mes con mes. En 2024, seis de cada diez desarrolladores usaban inteligencia artificial. En 2025, casi ocho. En 2026, más de ocho. Y lo nuevo no es que la computadora complete una línea, sino que un agente hace la tarea completa: nueve de cada diez profesionales ya usan agentes cada semana. GitHub dice que cuarenta y uno por ciento del código nuevo se genera con inteligencia artificial. Para la tesis significa algo muy concreto: un modelo que asuma que las horas de programación son el centro del costo se queda corto. Por eso desde el diseño el sistema calcula con cinco formas de hacerlo, no con una sola.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la otra cara, porque una tesis no puede repetir el folleto de las herramientas. La inteligencia artificial no hace a todos más rápidos. El estudio más serio del año pasado midió a desarrolladores con experiencia trabajando en su propio código: tardaron diecinueve por ciento más, y ellos creían que habían sido veinte por ciento más rápidos. Otro estudio, con seiscientos millones de cambios de código, encontró que se copia mucho más y se limpia mucho menos. Casi la mitad del código generado trae una falla de seguridad. Entonces, la ganancia depende de dos cosas: de la forma de hacerlo y de qué tan bien sabe usar la herramienta el equipo. Por eso el sistema no aplica un descuento parejo: cobra la herramienta por un lado y, por otro, reconoce el ahorro según qué tanto sabe usarla el equipo.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Hay algo que aprendí haciendo el sistema y que los datos de este año confirman. Construir el sistema es más rápido, sí, pero lo que más cambió es el detalle. El ajuste chico. Que este texto no se ve bien, que este campo debe validar. Antes eso era un ticket, una espera y a veces un cobro aparte. Hoy se resuelve en la misma sesión. Atlassian lo midió en tres mil cuatrocientos repositorios, que son los lugares donde se guarda el código de cada sistema. Los cambios terminados subieron diecinueve por ciento y cada persona ahorra de dos a cuatro horas por semana. El efecto es mayor en los sistemas chicos, que son justo los de un proveedor municipal. Esto tiene una consecuencia dura para el que cobra: el desarrollador que sigue cobrando cada detalle como si costara un día se va a quedar sin clientes, porque llega otro y lo hace en una tarde. Y tiene una consecuencia para mi sistema: el costo de cada cambio ahora se ajusta por la forma de hacerlo, con la misma regla que usa la calculadora de cambios. Lo van a ver en una pantalla más adelante.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ese terreno, esta es la pregunta de la tesis. Si se puede calcular desde el inicio, con los datos que sí se conocen al principio, cuánto va a costar y tardar un sistema municipal. Y que el error sea chico como para decidir con él. La hipótesis del sistema, o sea lo que yo creo y quiero comprobar, es que la estimación mejora cuando todo se junta en un mismo cálculo. Las piezas del sistema, los cambios, la forma de hacerlo, el equipo, la nómina con sus impuestos, el flujo de dinero y el mantenimiento. Y en el artículo probé tres ideas más chicas con datos públicos. Que el juicio del experto por sí solo no basta. Que las tareas de cambio pesan distinto. Y que con los datos del inicio se le puede ganar al promedio. Les adelanto que la segunda no se confirmó, y eso también es un resultado.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gráfica es del dataset JOSSE: tareas reales de proyectos de código abierto. Cada punto es una tarea. En el eje de abajo está lo que el experto estimó y en el eje vertical lo que costó de verdad. La línea diagonal sería la estimación perfecta. Fíjense en dos cosas. Una: los puntos suben junto con la línea, o sea que el experto sí sabe qué tarea es grande y cuál es chica. Eso en estadística se llama correlación, y aquí es alta, de cero punto setenta y nueve. Dos: los puntos están muy regados alrededor de la línea; solo cuatro de cada diez caen cerca. El experto ordena, pero no dimensiona.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otra gráfica son proyectos completos, ciento veinte, de cuarenta y dos organizaciones. Aquí casi todos los puntos están arriba de la línea. Eso quiere decir que costaron más de lo estimado: ochenta y uno por ciento subestimados, y el proyecto de en medio se pasó cincuenta y ocho por ciento de lo estimado. Es la imagen del problema del que hablé al principio.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Resumo lo que dicen los datos. Primero: con las variables que se conocen al inicio del proyecto, un modelo estadístico que se llama bosque aleatorio explicó ochenta y uno por ciento de la variación del esfuerzo en los proyectos completos. El promedio, que es lo que se usa normalmente, explicó cero. Eso respalda la tercera hipótesis. Segundo: el experto ordena pero no dimensiona; eso respalda la primera. Tercero: la segunda hipótesis no se confirmó: buscar cambios por palabras en el texto de la tarea no distingue nada. Por eso el sistema captura los cambios de forma estructurada, con su tipo y su fase, en lugar de adivinarlos del texto. Todo esto lo verificó un programa aparte, veintiséis de veintiséis comprobaciones.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sistema. Se llama EMPS Fresnillo. Está en internet, en estimacion punto hazlatarea punto com, y no pide cuenta ni contraseña. La portada ofrece dos caminos: cotizar en un minuto, o crear un proyecto completo en cinco pasos. Y tiene un ejemplo ya capturado para que cualquiera vea cómo funciona antes de escribir nada. Nota para el video: aquí puedes cambiar a la ventana del navegador y mostrarlo en vivo.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que la gente lo use, la entrada tiene que ser fácil. Cotizar en un minuto pregunta tres cosas: qué sistema necesitas, qué partes debe tener, y cuánto dinero tienes y para cuándo. Además pregunta quién va a resolver dudas del lado del cliente y si el equipo ya programa con inteligencia artificial. Con eso el sistema crea el proyecto con valores típicos, corre quince estimaciones en menos de un segundo y te lleva al resultado.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primero que ve la persona es esto, antes de cualquier tabla. Cuatro respuestas: cuánto va a costar, con IVA; cuánto va a tardar, en meses; si le alcanza con el dinero que tiene; y qué opción eligió, o cuál le recomendamos si todavía no elige. Todo lo demás de la pantalla explica estos cuatro renglones.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 es lo que más me pedían: saber de dónde sale el número. Cada resultado trae su cadena de cálculo, renglón por renglón, con la operación en palabras. Empieza con las horas base de las piezas del sistema. Se ajustan por qué tan claro está lo que se quiere y por el riesgo. Luego entra la forma de hacerlo, que ahorra horas según la pericia del equipo. Las semanas salen de dividir entre la capacidad del equipo. Y el costo mensual suma sueldos con todas sus cargas, herramientas de inteligencia artificial, otras herramientas y administración. Cualquiera puede rehacer la cuenta con una calculadora y le va a dar.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mismo proyecto, con el mismo equipo, se calcula en cinco formas de hacerlo: todo a mano, con ayuda de inteligencia artificial, híbrido, casi todo con inteligencia artificial, y con plataformas de armado sin programar. Pero no se le dan quince números a la persona. Se le dan tres tarjetas: la recomendada, la que eligió, y la más segura. Cada una con su precio, sus meses, su riesgo y si esa forma sirve para este proyecto. La tabla completa está abajo, plegada, para quien la quiera ver.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hallazgo que sostiene la tesis. Miren las cifras del mismo proyecto: a mano, casi tres millones de pesos y treinta y una semanas. Híbrido, novecientos mil y doce semanas. Casi todo con inteligencia artificial, seiscientos cuarenta y seis mil y ocho semanas. Plataforma de armado, trescientos once mil y cuatro semanas. Nueve veces de diferencia. Por eso digo que la forma de hacerlo pesa más que el precio. Pero la más barata no siempre sirve: una plataforma de armado no sirve para un sistema con datos personales y cuatro conexiones externas, aunque sea la más barata, y el sistema la descarta y dice por qué. Y hacer casi todo con inteligencia artificial no se le recomienda a un equipo que nunca la ha usado.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parte sale de una investigación de precios que hice el nueve de septiembre con las páginas oficiales de cada herramienta. Las herramientas se cobran por persona, no por equipo, porque así las venden: un asiento por cada persona técnica. Y como en la vida real cada quien trae su plan, hay tres niveles: básico, típico y máximo. Por ejemplo, para casi todo con inteligencia artificial, cien, doscientos cincuenta o cuatrocientos dólares por persona al mes. Se elige por proyecto, y además cada persona puede traer su propio plan.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esto es lo que el sistema le enseña antes de calcular: con este equipo de cuatro personas técnicas, cuánto costarían las herramientas al mes en cada forma de hacerlo, y qué parte del ahorro se le reconoce según la pericia del equipo, o sea, qué tan bien saben usar la herramienta. Eso se captura por persona, del uno al cinco. Los ahorros publicados están calibrados para quien usa la herramienta a diario y sabe darle instrucciones. A quien nunca la ha usado solo se le reconoce treinta y cinco por ciento del ahorro, porque un modelo muy potente en manos de quien no sabe pedirle las cosas no ahorra tiempo. Eso es exactamente lo que midió el estudio de METR.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desarrollador puede saber programar muy bien y no saber lo que cuesta una nómina. El sistema lo pone en el número. Sobre el sueldo van las cuotas del IMSS, el INFONAVIT, el impuesto sobre nómina de Zacatecas, las prestaciones de ley, y si el proyecto pasa de seis meses, la liquidación. Y luego el flujo: el proveedor paga la nómina cada mes, pero cobra por anticipo, entregas y pago final. Hay un mes en el que ya pagó y el cliente no le ha terminado de pagar. La tercera tarjeta lo dice: te van a deber tanto en el mes tal. Ese es el mes en que los proyectos se abandonan.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Estas son las preguntas que cualquier jefe de área haría. ¿Va a terminar a tiempo? ¿El proveedor va a aguantar con su dinero? ¿Cuánto cuesta mantenerlo después? ¿Qué no está incluido? Y abajo, si pides cambios a medio camino, cuánto cuesta cada tipo. Aquí está lo que dije antes: con casi todo con inteligencia artificial y este equipo, una corrección menor lleva de una hora y media a cinco, no de dos a ocho, y la tabla muestra las horas y el dinero. Es la misma regla que usa la calculadora de cambios del proyecto.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mismo cálculo se redacta distinto según quién lo lee. Este es el reporte para el Ayuntamiento. Contesta con veredicto: si va a terminar a tiempo, si el proveedor va a aguantar, qué método va a usar, cuánto cuesta cada cambio y qué no está incluido. Y trae una lista de qué exigir en el contrato. Se puede imprimir o guardar como PDF.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este es el recuadro que ve el proveedor: cuál opción le conviene según su utilidad, su riesgo y su tiempo, con las razones. Incluye las opciones que se descartaron aunque fueran más baratas, y dice por qué. Cuando el proveedor elige, la decisión queda registrada con fecha y nombre, y el sistema guarda qué recomendaba en ese momento, para poder comparar después.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sistema así solo sirve si se le puede creer. Esta pantalla muestra los sesenta y cuatro parámetros que usa el cálculo: cuotas del IMSS e INFONAVIT, impuesto sobre nómina, salario mínimo y UMA, IVA e ISR, los factores por forma de hacerlo, los precios de las herramientas y el tipo de cambio. Cada uno con su ley o su fuente, la dirección donde consultarlo y la fecha desde la que rige. Quien estima puede cambiar cualquier valor para sus propias estimaciones sin afectar a nadie más. Y cada estimación guarda una copia de los parámetros con que se calculó, para poder reproducirla meses después.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resultado se puede compartir con un enlace de solo lectura que no pide cuenta. El jefe de área se lo manda a su director, o el proveedor a su cliente, y ven lo mismo: las cuatro respuestas, las opciones, de dónde sale el número y las preguntas. Quien lo compartió puede quitar el enlace cuando quiera.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lo que sigue, que es lo que le pido al seminario que revise. Al pie de cada resultado hay cuatro preguntas que se contestan en treinta segundos: qué tan creíble te pareció la cifra, del uno al cinco; cuánto pensabas antes de verla; con qué forma de hacerlo lo harías; y qué te faltó. Es anónima. Con eso puedo comparar lo que la gente esperaba contra lo que el sistema calculó, separado por lado: Ayuntamiento y proveedor. Y sin esperar a que un proyecto termine, porque eso puede tardar meses.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Además de la encuesta, el sistema mide cosas sin preguntar. Cuánto tarda cada persona en llegar a su primera cifra. Cuántos empiezan y no terminan. Qué forma de hacerlo eligen. Y cuando un proyecto termina, se captura lo que costó de verdad. Con quince casos terminados, el sistema calcula solo las mismas medidas del artículo y dice si la hipótesis se cumple o no. Este es el panel del investigador, donde se ve todo eso.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plan de validación es un piloto en dos olas. La primera, en octubre, con ayuntamientos: Fresnillo primero, y luego municipios cercanos a través de las redes que ya existen, como CIAPEM, que este año convocó un seminario sobre inteligencia artificial para gobiernos municipales. Cada persona usa el sistema treinta minutos con un proyecto real o con el ejemplo y contesta la encuesta. La segunda ola, en noviembre, con desarrolladores y empresas pequeñas: cotizan un proyecto real y me dicen si la cifra se acerca a lo que cobrarían. Y hay un dato que explica por qué hay espacio para esto. La identidad digital del gobierno federal está integrada en doscientos cuarenta y dos sistemas, y solo ocho son municipales, en un país con dos mil cuatrocientos sesenta y nueve municipios. Los municipios chicos compran software a proveedores chicos, y ninguno de los dos tiene con qué estimar.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Sobre el modelo, quiero ser honesto: no voy a decir hoy cuál es el modelo que lo va a predecir todo, porque no tengo los datos para decirlo. Hoy el motor no adivina: es una cuenta fija que cualquiera puede rehacer a mano, y eso es una virtud. Lo que sí está listo es el método para elegir el modelo cuando haya datos. Con quince casos terminados, el sistema entrena y compara tres modelos, con las variables del artículo más las que este año se volvieron indispensables: la forma de hacerlo, la pericia y el costo de las herramientas. Y da un veredicto con criterios que ya están fijados. La literatura de este año va por ahí. Un artículo de marzo dice que los modelos clásicos fallan por razones de fondo cuando quien escribe el código es una inteligencia artificial. Otro de agosto propone descomponer el costo en tres partes: lo que se paga a la inteligencia artificial por su uso, la supervisión humana y los servidores. Mi tesis entra ahí, con datos de ayuntamientos reales, que hoy no existen en ningún lado.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límites, dichos de frente. Uno: todavía no hay casos reales terminados. Dos: los precios y los factores cambian mes con mes, y por eso son parámetros con fecha y no números fijos. Tres: el sistema estima, no dictamina; la parte fiscal y laboral la tiene que revisar un profesional, y el sistema lo dice. Cuatro: la encuesta la contesta quien quiere, así que contestan más los que ya están convencidos, y por eso también mido cosas sin preguntar. Y cinco: mucha de la evidencia de este año viene de empresas que venden estas herramientas; en la tesis separo lo que viene de estudios controlados de lo que viene de encuestas y folletos.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cronograma del semestre. Agosto: la radiografía de la tesis y la matriz de seguimiento, ya entregadas. Septiembre: el sistema con todo lo que acabo de mostrar, ya desplegado en el servidor. Octubre: la primera ola del piloto con ayuntamientos. Noviembre: la segunda ola con desarrolladores y el análisis. Diciembre: resultados y presentación final. Lo que no depende de mí es cuántos proyectos terminan dentro del semestre. Por eso el piloto mide cosas que sí puedo tener en estas fechas: credibilidad y tiempo a la primera cifra. La captura del resultado real queda sembrada para después.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Cierro con lo que pido. Al jurado, su opinión sobre la encuesta del piloto: las cuatro preguntas, lo que se mide sin preguntar y la regla de esperar quince casos terminados. A los ayuntamientos, treinta minutos para probarlo con un proyecto real, sin cuenta y sin instalar nada. A los proveedores, cotizar un proyecto real y decirme si la cifra se acerca a lo que cobrarían. La tesis parte de una idea sencilla: los tiempos ya cambiaron, y el que cotiza como antes, o compra como antes, va a perder. Este sistema es una forma de que los dos lados de la mesa vean el mismo número, con todo lo que trae adentro, antes de firmar. Gracias.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Referencias consultadas, con fecha. Cada cifra de la presentación se puede rastrear a una de ellas.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Continúan las referencias. Las de precios y tipo de cambio llevan fecha porque cambian con frecuencia.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114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scudo_uaz.png"/>
          <p:cNvPicPr>
            <a:picLocks noChangeAspect="1"/>
          </p:cNvPicPr>
          <p:nvPr/>
        </p:nvPicPr>
        <p:blipFill>
          <a:blip r:embed="rId2"/>
          <a:stretch>
            <a:fillRect/>
          </a:stretch>
        </p:blipFill>
        <p:spPr>
          <a:xfrm>
            <a:off x="5440385" y="640080"/>
            <a:ext cx="1310924" cy="1188720"/>
          </a:xfrm>
          <a:prstGeom prst="rect">
            <a:avLst/>
          </a:prstGeom>
        </p:spPr>
      </p:pic>
      <p:sp>
        <p:nvSpPr>
          <p:cNvPr id="4" name="TextBox 3"/>
          <p:cNvSpPr txBox="1"/>
          <p:nvPr/>
        </p:nvSpPr>
        <p:spPr>
          <a:xfrm>
            <a:off x="640080" y="1920240"/>
            <a:ext cx="10911535" cy="822960"/>
          </a:xfrm>
          <a:prstGeom prst="rect">
            <a:avLst/>
          </a:prstGeom>
          <a:noFill/>
        </p:spPr>
        <p:txBody>
          <a:bodyPr wrap="square" anchor="t" lIns="45720" rIns="45720" tIns="27432" bIns="27432">
            <a:spAutoFit/>
          </a:bodyPr>
          <a:lstStyle/>
          <a:p>
            <a:pPr algn="ctr">
              <a:lnSpc>
                <a:spcPct val="120000"/>
              </a:lnSpc>
              <a:spcAft>
                <a:spcPts val="200"/>
              </a:spcAft>
            </a:pPr>
            <a:r>
              <a:rPr sz="2200" b="1" i="0">
                <a:solidFill>
                  <a:srgbClr val="1F3864"/>
                </a:solidFill>
                <a:latin typeface="Arial"/>
              </a:rPr>
              <a:t>Universidad Autónoma de Zacatecas</a:t>
            </a:r>
          </a:p>
          <a:p>
            <a:pPr algn="ctr">
              <a:lnSpc>
                <a:spcPct val="120000"/>
              </a:lnSpc>
              <a:spcAft>
                <a:spcPts val="1000"/>
              </a:spcAft>
            </a:pPr>
            <a:r>
              <a:rPr sz="1600" b="0" i="0">
                <a:solidFill>
                  <a:srgbClr val="1A1A1A"/>
                </a:solidFill>
                <a:latin typeface="Arial"/>
              </a:rPr>
              <a:t>Ingeniería en Software. Seminario de Tesis, agosto a diciembre de 2026</a:t>
            </a:r>
          </a:p>
        </p:txBody>
      </p:sp>
      <p:sp>
        <p:nvSpPr>
          <p:cNvPr id="5" name="TextBox 4"/>
          <p:cNvSpPr txBox="1"/>
          <p:nvPr/>
        </p:nvSpPr>
        <p:spPr>
          <a:xfrm>
            <a:off x="640080" y="2880360"/>
            <a:ext cx="10911535" cy="1828800"/>
          </a:xfrm>
          <a:prstGeom prst="rect">
            <a:avLst/>
          </a:prstGeom>
          <a:noFill/>
        </p:spPr>
        <p:txBody>
          <a:bodyPr wrap="square" anchor="t" lIns="45720" rIns="45720" tIns="27432" bIns="27432">
            <a:spAutoFit/>
          </a:bodyPr>
          <a:lstStyle/>
          <a:p>
            <a:pPr algn="ctr">
              <a:lnSpc>
                <a:spcPct val="110000"/>
              </a:lnSpc>
              <a:spcAft>
                <a:spcPts val="800"/>
              </a:spcAft>
            </a:pPr>
            <a:r>
              <a:rPr sz="2800" b="1" i="0">
                <a:solidFill>
                  <a:srgbClr val="1F3864"/>
                </a:solidFill>
                <a:latin typeface="Arial"/>
              </a:rPr>
              <a:t>Estimación temprana de esfuerzo, tiempo y costo en proyectos de software para gobiernos municipales</a:t>
            </a:r>
          </a:p>
          <a:p>
            <a:pPr algn="ctr">
              <a:lnSpc>
                <a:spcPct val="120000"/>
              </a:lnSpc>
              <a:spcAft>
                <a:spcPts val="1000"/>
              </a:spcAft>
            </a:pPr>
            <a:r>
              <a:rPr sz="1800" b="0" i="0">
                <a:solidFill>
                  <a:srgbClr val="1A1A1A"/>
                </a:solidFill>
                <a:latin typeface="Arial"/>
              </a:rPr>
              <a:t>Propuesta metodológica para el control de cambios, con referencia a Fresnillo, Zacatecas</a:t>
            </a:r>
          </a:p>
        </p:txBody>
      </p:sp>
      <p:sp>
        <p:nvSpPr>
          <p:cNvPr id="6" name="TextBox 5"/>
          <p:cNvSpPr txBox="1"/>
          <p:nvPr/>
        </p:nvSpPr>
        <p:spPr>
          <a:xfrm>
            <a:off x="640080" y="4892040"/>
            <a:ext cx="10911535" cy="1554480"/>
          </a:xfrm>
          <a:prstGeom prst="rect">
            <a:avLst/>
          </a:prstGeom>
          <a:noFill/>
        </p:spPr>
        <p:txBody>
          <a:bodyPr wrap="square" anchor="t" lIns="45720" rIns="45720" tIns="27432" bIns="27432">
            <a:spAutoFit/>
          </a:bodyPr>
          <a:lstStyle/>
          <a:p>
            <a:pPr algn="ctr">
              <a:lnSpc>
                <a:spcPct val="120000"/>
              </a:lnSpc>
              <a:spcAft>
                <a:spcPts val="400"/>
              </a:spcAft>
            </a:pPr>
            <a:r>
              <a:rPr sz="1800" b="1" i="0">
                <a:solidFill>
                  <a:srgbClr val="1A1A1A"/>
                </a:solidFill>
                <a:latin typeface="Arial"/>
              </a:rPr>
              <a:t>Presenta: Rogelio Flores Rodríguez, matrícula 22304084</a:t>
            </a:r>
          </a:p>
          <a:p>
            <a:pPr algn="ctr">
              <a:lnSpc>
                <a:spcPct val="120000"/>
              </a:lnSpc>
              <a:spcAft>
                <a:spcPts val="400"/>
              </a:spcAft>
            </a:pPr>
            <a:r>
              <a:rPr sz="1500" b="0" i="0">
                <a:solidFill>
                  <a:srgbClr val="1A1A1A"/>
                </a:solidFill>
                <a:latin typeface="Arial"/>
              </a:rPr>
              <a:t>Semestre 8, grupo D, modalidad semiescolarizada</a:t>
            </a:r>
          </a:p>
          <a:p>
            <a:pPr algn="ctr">
              <a:lnSpc>
                <a:spcPct val="120000"/>
              </a:lnSpc>
              <a:spcAft>
                <a:spcPts val="400"/>
              </a:spcAft>
            </a:pPr>
            <a:r>
              <a:rPr sz="1500" b="0" i="0">
                <a:solidFill>
                  <a:srgbClr val="1A1A1A"/>
                </a:solidFill>
                <a:latin typeface="Arial"/>
              </a:rPr>
              <a:t>Directora de tesis: Dra. Julieta Guadalupe Rodríguez Ruiz</a:t>
            </a:r>
          </a:p>
          <a:p>
            <a:pPr algn="ctr">
              <a:lnSpc>
                <a:spcPct val="120000"/>
              </a:lnSpc>
              <a:spcAft>
                <a:spcPts val="1000"/>
              </a:spcAft>
            </a:pPr>
            <a:r>
              <a:rPr sz="1500" b="0" i="0">
                <a:solidFill>
                  <a:srgbClr val="1A1A1A"/>
                </a:solidFill>
                <a:latin typeface="Arial"/>
              </a:rPr>
              <a:t>Sistema en línea: estimacion.hazlatarea.com</a:t>
            </a:r>
          </a:p>
        </p:txBody>
      </p:sp>
      <p:pic>
        <p:nvPicPr>
          <p:cNvPr id="7" name="Picture 6" descr="logo_emps.png"/>
          <p:cNvPicPr>
            <a:picLocks noChangeAspect="1"/>
          </p:cNvPicPr>
          <p:nvPr/>
        </p:nvPicPr>
        <p:blipFill>
          <a:blip r:embed="rId3"/>
          <a:stretch>
            <a:fillRect/>
          </a:stretch>
        </p:blipFill>
        <p:spPr>
          <a:xfrm>
            <a:off x="10911535" y="5806440"/>
            <a:ext cx="640080" cy="6400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El problema</a:t>
            </a:r>
          </a:p>
        </p:txBody>
      </p: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200" b="0" i="0">
                <a:solidFill>
                  <a:srgbClr val="1A1A1A"/>
                </a:solidFill>
                <a:latin typeface="Arial"/>
              </a:rPr>
              <a:t>•  El Ayuntamiento recibe cotizaciones que no puede comparar.</a:t>
            </a:r>
          </a:p>
          <a:p>
            <a:pPr algn="l">
              <a:lnSpc>
                <a:spcPct val="120000"/>
              </a:lnSpc>
              <a:spcAft>
                <a:spcPts val="1400"/>
              </a:spcAft>
            </a:pPr>
            <a:r>
              <a:rPr sz="2200" b="0" i="0">
                <a:solidFill>
                  <a:srgbClr val="1A1A1A"/>
                </a:solidFill>
                <a:latin typeface="Arial"/>
              </a:rPr>
              <a:t>•  El proveedor no sabe cuánto cobrar: caro pierde el contrato, barato se queda a media obra.</a:t>
            </a:r>
          </a:p>
          <a:p>
            <a:pPr algn="l">
              <a:lnSpc>
                <a:spcPct val="120000"/>
              </a:lnSpc>
              <a:spcAft>
                <a:spcPts val="1400"/>
              </a:spcAft>
            </a:pPr>
            <a:r>
              <a:rPr sz="2200" b="0" i="0">
                <a:solidFill>
                  <a:srgbClr val="1A1A1A"/>
                </a:solidFill>
                <a:latin typeface="Arial"/>
              </a:rPr>
              <a:t>•  8 de cada 10 proyectos costaron más de lo estimado (120 proyectos, SEERA).</a:t>
            </a:r>
          </a:p>
          <a:p>
            <a:pPr algn="l">
              <a:lnSpc>
                <a:spcPct val="120000"/>
              </a:lnSpc>
              <a:spcAft>
                <a:spcPts val="1400"/>
              </a:spcAft>
            </a:pPr>
            <a:r>
              <a:rPr sz="2200" b="0" i="0">
                <a:solidFill>
                  <a:srgbClr val="1A1A1A"/>
                </a:solidFill>
                <a:latin typeface="Arial"/>
              </a:rPr>
              <a:t>•  Solo 4 de cada 10 estimaciones de expertos quedaron cerca de lo real (4,329 tareas, JOSSE).</a:t>
            </a:r>
          </a:p>
        </p:txBody>
      </p:sp>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Fuente: SEERA (PROMISE 2020, Zenodo) y JOSSE (Alhamed, 2022, Zenodo). Cifras del artículo propio, septiembre de 2026.</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Hoy el software no se hace como antes</a:t>
            </a:r>
          </a:p>
        </p:txBody>
      </p: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200" b="0" i="0">
                <a:solidFill>
                  <a:srgbClr val="1A1A1A"/>
                </a:solidFill>
                <a:latin typeface="Arial"/>
              </a:rPr>
              <a:t>•  84 % de los desarrolladores usa inteligencia artificial para programar (Stack Overflow, 2026).</a:t>
            </a:r>
          </a:p>
          <a:p>
            <a:pPr algn="l">
              <a:lnSpc>
                <a:spcPct val="120000"/>
              </a:lnSpc>
              <a:spcAft>
                <a:spcPts val="1400"/>
              </a:spcAft>
            </a:pPr>
            <a:r>
              <a:rPr sz="2200" b="0" i="0">
                <a:solidFill>
                  <a:srgbClr val="1A1A1A"/>
                </a:solidFill>
                <a:latin typeface="Arial"/>
              </a:rPr>
              <a:t>•  90 % usa agentes de código cada semana (JetBrains, 2026).</a:t>
            </a:r>
          </a:p>
          <a:p>
            <a:pPr algn="l">
              <a:lnSpc>
                <a:spcPct val="120000"/>
              </a:lnSpc>
              <a:spcAft>
                <a:spcPts val="1400"/>
              </a:spcAft>
            </a:pPr>
            <a:r>
              <a:rPr sz="2200" b="0" i="0">
                <a:solidFill>
                  <a:srgbClr val="1A1A1A"/>
                </a:solidFill>
                <a:latin typeface="Arial"/>
              </a:rPr>
              <a:t>•  41 % del código nuevo se genera con inteligencia artificial (GitHub, 2025).</a:t>
            </a:r>
          </a:p>
          <a:p>
            <a:pPr algn="l">
              <a:lnSpc>
                <a:spcPct val="120000"/>
              </a:lnSpc>
              <a:spcAft>
                <a:spcPts val="1400"/>
              </a:spcAft>
            </a:pPr>
            <a:r>
              <a:rPr sz="2200" b="1" i="0">
                <a:solidFill>
                  <a:srgbClr val="1F3864"/>
                </a:solidFill>
                <a:latin typeface="Arial"/>
              </a:rPr>
              <a:t>Estimar solo horas de programación ya no alcanza. Por eso el sistema calcula con cinco formas de hacerlo.</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Pero la ganancia no es igual para todos</a:t>
            </a:r>
          </a:p>
        </p:txBody>
      </p: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200" b="0" i="0">
                <a:solidFill>
                  <a:srgbClr val="1A1A1A"/>
                </a:solidFill>
                <a:latin typeface="Arial"/>
              </a:rPr>
              <a:t>•  Expertos en su propio código tardaron 19 % más y creían ir 20 % más rápido (METR, 2025).</a:t>
            </a:r>
          </a:p>
          <a:p>
            <a:pPr algn="l">
              <a:lnSpc>
                <a:spcPct val="120000"/>
              </a:lnSpc>
              <a:spcAft>
                <a:spcPts val="1400"/>
              </a:spcAft>
            </a:pPr>
            <a:r>
              <a:rPr sz="2200" b="0" i="0">
                <a:solidFill>
                  <a:srgbClr val="1A1A1A"/>
                </a:solidFill>
                <a:latin typeface="Arial"/>
              </a:rPr>
              <a:t>•  Se copia 81 % más código y se limpia 70 % menos (GitClear, 623 millones de cambios).</a:t>
            </a:r>
          </a:p>
          <a:p>
            <a:pPr algn="l">
              <a:lnSpc>
                <a:spcPct val="120000"/>
              </a:lnSpc>
              <a:spcAft>
                <a:spcPts val="1400"/>
              </a:spcAft>
            </a:pPr>
            <a:r>
              <a:rPr sz="2200" b="0" i="0">
                <a:solidFill>
                  <a:srgbClr val="1A1A1A"/>
                </a:solidFill>
                <a:latin typeface="Arial"/>
              </a:rPr>
              <a:t>•  45 % del código generado trae una falla de seguridad (Veracode, 2026).</a:t>
            </a:r>
          </a:p>
          <a:p>
            <a:pPr algn="l">
              <a:lnSpc>
                <a:spcPct val="120000"/>
              </a:lnSpc>
              <a:spcAft>
                <a:spcPts val="1400"/>
              </a:spcAft>
            </a:pPr>
            <a:r>
              <a:rPr sz="2200" b="1" i="0">
                <a:solidFill>
                  <a:srgbClr val="1F3864"/>
                </a:solidFill>
                <a:latin typeface="Arial"/>
              </a:rPr>
              <a:t>La ganancia depende de la forma de hacerlo y de la pericia del equipo. El sistema las cobra por separado.</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Los detalles ya no llevan ticket</a:t>
            </a:r>
          </a:p>
        </p:txBody>
      </p: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000" b="0" i="0">
                <a:solidFill>
                  <a:srgbClr val="1A1A1A"/>
                </a:solidFill>
                <a:latin typeface="Arial"/>
              </a:rPr>
              <a:t>•  El ajuste chico antes era un ticket y una espera. Hoy se resuelve en la misma sesión.</a:t>
            </a:r>
          </a:p>
          <a:p>
            <a:pPr algn="l">
              <a:lnSpc>
                <a:spcPct val="120000"/>
              </a:lnSpc>
              <a:spcAft>
                <a:spcPts val="1400"/>
              </a:spcAft>
            </a:pPr>
            <a:r>
              <a:rPr sz="2000" b="0" i="0">
                <a:solidFill>
                  <a:srgbClr val="1A1A1A"/>
                </a:solidFill>
                <a:latin typeface="Arial"/>
              </a:rPr>
              <a:t>•  Los cambios terminados suben 19 % y cada persona ahorra de 2 a 4 horas por semana (Atlassian, 3,400 repositorios).</a:t>
            </a:r>
          </a:p>
          <a:p>
            <a:pPr algn="l">
              <a:lnSpc>
                <a:spcPct val="120000"/>
              </a:lnSpc>
              <a:spcAft>
                <a:spcPts val="1400"/>
              </a:spcAft>
            </a:pPr>
            <a:r>
              <a:rPr sz="2000" b="0" i="0">
                <a:solidFill>
                  <a:srgbClr val="1A1A1A"/>
                </a:solidFill>
                <a:latin typeface="Arial"/>
              </a:rPr>
              <a:t>•  De 8,106 correcciones hechas por agentes, 65 % se aceptaron (arXiv, 2026).</a:t>
            </a:r>
          </a:p>
          <a:p>
            <a:pPr algn="l">
              <a:lnSpc>
                <a:spcPct val="120000"/>
              </a:lnSpc>
              <a:spcAft>
                <a:spcPts val="1400"/>
              </a:spcAft>
            </a:pPr>
            <a:r>
              <a:rPr sz="2000" b="1" i="0">
                <a:solidFill>
                  <a:srgbClr val="1F3864"/>
                </a:solidFill>
                <a:latin typeface="Arial"/>
              </a:rPr>
              <a:t>Quien sigue cobrando cada detalle como un día de trabajo se va a quedar sin clientes. El sistema ya lo refleja en el costo de cada cambio.</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Pregunta e hipótesis</a:t>
            </a:r>
          </a:p>
        </p:txBody>
      </p: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200"/>
              </a:spcAft>
            </a:pPr>
            <a:r>
              <a:rPr sz="1600" b="0" i="0">
                <a:solidFill>
                  <a:srgbClr val="595959"/>
                </a:solidFill>
                <a:latin typeface="Arial"/>
              </a:rPr>
              <a:t>Pregunta</a:t>
            </a:r>
          </a:p>
          <a:p>
            <a:pPr algn="l">
              <a:lnSpc>
                <a:spcPct val="120000"/>
              </a:lnSpc>
              <a:spcAft>
                <a:spcPts val="1800"/>
              </a:spcAft>
            </a:pPr>
            <a:r>
              <a:rPr sz="2200" b="1" i="0">
                <a:solidFill>
                  <a:srgbClr val="1F3864"/>
                </a:solidFill>
                <a:latin typeface="Arial"/>
              </a:rPr>
              <a:t>¿Se puede calcular desde el inicio, con los datos que un Ayuntamiento y un proveedor sí conocen, el costo y el tiempo de un sistema municipal con un error útil para decidir?</a:t>
            </a:r>
          </a:p>
          <a:p>
            <a:pPr algn="l">
              <a:lnSpc>
                <a:spcPct val="120000"/>
              </a:lnSpc>
              <a:spcAft>
                <a:spcPts val="200"/>
              </a:spcAft>
            </a:pPr>
            <a:r>
              <a:rPr sz="1600" b="0" i="0">
                <a:solidFill>
                  <a:srgbClr val="595959"/>
                </a:solidFill>
                <a:latin typeface="Arial"/>
              </a:rPr>
              <a:t>Hipótesis del sistema</a:t>
            </a:r>
          </a:p>
          <a:p>
            <a:pPr algn="l">
              <a:lnSpc>
                <a:spcPct val="120000"/>
              </a:lnSpc>
              <a:spcAft>
                <a:spcPts val="1800"/>
              </a:spcAft>
            </a:pPr>
            <a:r>
              <a:rPr sz="2000" b="0" i="0">
                <a:solidFill>
                  <a:srgbClr val="1A1A1A"/>
                </a:solidFill>
                <a:latin typeface="Arial"/>
              </a:rPr>
              <a:t>La estimación mejora cuando en una misma base de datos y en un mismo cálculo se juntan las piezas del sistema, los cambios, la forma de hacerlo, el equipo, la nómina con sus impuestos, el flujo de dinero y el mantenimiento.</a:t>
            </a:r>
          </a:p>
          <a:p>
            <a:pPr algn="l">
              <a:lnSpc>
                <a:spcPct val="120000"/>
              </a:lnSpc>
              <a:spcAft>
                <a:spcPts val="200"/>
              </a:spcAft>
            </a:pPr>
            <a:r>
              <a:rPr sz="1600" b="0" i="0">
                <a:solidFill>
                  <a:srgbClr val="595959"/>
                </a:solidFill>
                <a:latin typeface="Arial"/>
              </a:rPr>
              <a:t>Hipótesis del artículo, ya probadas con datos públicos</a:t>
            </a:r>
          </a:p>
          <a:p>
            <a:pPr algn="l">
              <a:lnSpc>
                <a:spcPct val="120000"/>
              </a:lnSpc>
              <a:spcAft>
                <a:spcPts val="600"/>
              </a:spcAft>
            </a:pPr>
            <a:r>
              <a:rPr sz="1800" b="0" i="0">
                <a:solidFill>
                  <a:srgbClr val="1A1A1A"/>
                </a:solidFill>
                <a:latin typeface="Arial"/>
              </a:rPr>
              <a:t>H1. El juicio del experto por sí solo no basta.   H2. Las tareas de cambio tienen un esfuerzo distinto.   H3. Con los datos del inicio se le gana al promedio.</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Lo que estima el experto contra lo que costó de verdad</a:t>
            </a:r>
          </a:p>
        </p:txBody>
      </p:sp>
      <p:pic>
        <p:nvPicPr>
          <p:cNvPr id="4" name="Picture 3" descr="josse_expert_vs_actual.png"/>
          <p:cNvPicPr>
            <a:picLocks noChangeAspect="1"/>
          </p:cNvPicPr>
          <p:nvPr/>
        </p:nvPicPr>
        <p:blipFill>
          <a:blip r:embed="rId2"/>
          <a:stretch>
            <a:fillRect/>
          </a:stretch>
        </p:blipFill>
        <p:spPr>
          <a:xfrm>
            <a:off x="2991459" y="1463040"/>
            <a:ext cx="6208776"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JOSSE (Alhamed, 2022): tareas de Jira con estimación experta, n = 4,329. Correlación 0.79; solo 40 % dentro de más o menos 15 %. Figura 1 del artículo.</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Lo mismo, con proyectos completos</a:t>
            </a:r>
          </a:p>
        </p:txBody>
      </p:sp>
      <p:pic>
        <p:nvPicPr>
          <p:cNvPr id="4" name="Picture 3" descr="seera_estimate_vs_actual.png"/>
          <p:cNvPicPr>
            <a:picLocks noChangeAspect="1"/>
          </p:cNvPicPr>
          <p:nvPr/>
        </p:nvPicPr>
        <p:blipFill>
          <a:blip r:embed="rId2"/>
          <a:stretch>
            <a:fillRect/>
          </a:stretch>
        </p:blipFill>
        <p:spPr>
          <a:xfrm>
            <a:off x="2991459" y="1463040"/>
            <a:ext cx="6208776"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SEERA, n = 120 proyectos. 81 % subestimados; desviación mediana +58.6 %. Figura 2 del artículo.</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Lo que ya se demostró con datos públicos</a:t>
            </a:r>
          </a:p>
        </p:txBody>
      </p: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000" b="0" i="0">
                <a:solidFill>
                  <a:srgbClr val="1A1A1A"/>
                </a:solidFill>
                <a:latin typeface="Arial"/>
              </a:rPr>
              <a:t>•  Con las variables que se conocen al inicio, un bosque aleatorio alcanzó R2 = 0.81 en los proyectos completos, contra cero de la línea base del promedio (H3 respaldada).</a:t>
            </a:r>
          </a:p>
          <a:p>
            <a:pPr algn="l">
              <a:lnSpc>
                <a:spcPct val="120000"/>
              </a:lnSpc>
              <a:spcAft>
                <a:spcPts val="1400"/>
              </a:spcAft>
            </a:pPr>
            <a:r>
              <a:rPr sz="2000" b="0" i="0">
                <a:solidFill>
                  <a:srgbClr val="1A1A1A"/>
                </a:solidFill>
                <a:latin typeface="Arial"/>
              </a:rPr>
              <a:t>•  El juicio experto ordena pero no dimensiona: solo 40 % de sus estimaciones cae dentro de más o menos 15 % (H1 respaldada).</a:t>
            </a:r>
          </a:p>
          <a:p>
            <a:pPr algn="l">
              <a:lnSpc>
                <a:spcPct val="120000"/>
              </a:lnSpc>
              <a:spcAft>
                <a:spcPts val="1400"/>
              </a:spcAft>
            </a:pPr>
            <a:r>
              <a:rPr sz="2000" b="0" i="0">
                <a:solidFill>
                  <a:srgbClr val="1A1A1A"/>
                </a:solidFill>
                <a:latin typeface="Arial"/>
              </a:rPr>
              <a:t>•  Buscar cambios por palabras clave en el texto de la tarea no separa nada (p = 0.57): H2 no se confirmó. Por eso el sistema captura los cambios de forma estructurada y no los adivina del texto.</a:t>
            </a:r>
          </a:p>
          <a:p>
            <a:pPr algn="l">
              <a:lnSpc>
                <a:spcPct val="120000"/>
              </a:lnSpc>
              <a:spcAft>
                <a:spcPts val="1400"/>
              </a:spcAft>
            </a:pPr>
            <a:r>
              <a:rPr sz="2000" b="0" i="0">
                <a:solidFill>
                  <a:srgbClr val="1A1A1A"/>
                </a:solidFill>
                <a:latin typeface="Arial"/>
              </a:rPr>
              <a:t>•  Todo se verificó con un programa independiente: 26 de 26 comprobaciones correctas.</a:t>
            </a:r>
          </a:p>
        </p:txBody>
      </p:sp>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Artículo propio, septiembre de 2026. Verificación con scripts/05_verify_results.py.</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EMPS Fresnillo: el sistema, en línea y sin cuenta</a:t>
            </a:r>
          </a:p>
        </p:txBody>
      </p:sp>
      <p:pic>
        <p:nvPicPr>
          <p:cNvPr id="4" name="Picture 3" descr="01_portada_r.png"/>
          <p:cNvPicPr>
            <a:picLocks noChangeAspect="1"/>
          </p:cNvPicPr>
          <p:nvPr/>
        </p:nvPicPr>
        <p:blipFill>
          <a:blip r:embed="rId2"/>
          <a:stretch>
            <a:fillRect/>
          </a:stretch>
        </p:blipFill>
        <p:spPr>
          <a:xfrm>
            <a:off x="3257550" y="1463040"/>
            <a:ext cx="5676595"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Portada del sistema, septiembre de 2026. estimacion.hazlatarea.com</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Cotizar en un minuto</a:t>
            </a:r>
          </a:p>
        </p:txBody>
      </p:sp>
      <p:pic>
        <p:nvPicPr>
          <p:cNvPr id="4" name="Picture 3" descr="02_cotizar_r.png"/>
          <p:cNvPicPr>
            <a:picLocks noChangeAspect="1"/>
          </p:cNvPicPr>
          <p:nvPr/>
        </p:nvPicPr>
        <p:blipFill>
          <a:blip r:embed="rId2"/>
          <a:stretch>
            <a:fillRect/>
          </a:stretch>
        </p:blipFill>
        <p:spPr>
          <a:xfrm>
            <a:off x="3425406" y="1463040"/>
            <a:ext cx="5340882"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Pantalla Cotizar en un minuto.</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El resultado contesta primero</a:t>
            </a:r>
          </a:p>
        </p:txBody>
      </p:sp>
      <p:pic>
        <p:nvPicPr>
          <p:cNvPr id="4" name="Picture 3" descr="03_cuatro_respuestas.png"/>
          <p:cNvPicPr>
            <a:picLocks noChangeAspect="1"/>
          </p:cNvPicPr>
          <p:nvPr/>
        </p:nvPicPr>
        <p:blipFill>
          <a:blip r:embed="rId2"/>
          <a:stretch>
            <a:fillRect/>
          </a:stretch>
        </p:blipFill>
        <p:spPr>
          <a:xfrm>
            <a:off x="640080" y="1463040"/>
            <a:ext cx="10911535" cy="1581381"/>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Las cuatro respuestas del proyecto de ejemplo: un sistema de trámites con ocho piezas y cuatro personas.</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De dónde sale el número</a:t>
            </a:r>
          </a:p>
        </p:txBody>
      </p:sp>
      <p:pic>
        <p:nvPicPr>
          <p:cNvPr id="4" name="Picture 3" descr="04_cadena_de_calculo_r.png"/>
          <p:cNvPicPr>
            <a:picLocks noChangeAspect="1"/>
          </p:cNvPicPr>
          <p:nvPr/>
        </p:nvPicPr>
        <p:blipFill>
          <a:blip r:embed="rId2"/>
          <a:stretch>
            <a:fillRect/>
          </a:stretch>
        </p:blipFill>
        <p:spPr>
          <a:xfrm>
            <a:off x="1365351" y="1463040"/>
            <a:ext cx="9460992"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Cadena de cálculo del ejemplo, forma híbrida, escenario probable (parte alta).</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Cinco formas de hacerlo, tres tarjetas</a:t>
            </a:r>
          </a:p>
        </p:txBody>
      </p:sp>
      <p:pic>
        <p:nvPicPr>
          <p:cNvPr id="4" name="Picture 3" descr="05_tres_opciones.png"/>
          <p:cNvPicPr>
            <a:picLocks noChangeAspect="1"/>
          </p:cNvPicPr>
          <p:nvPr/>
        </p:nvPicPr>
        <p:blipFill>
          <a:blip r:embed="rId2"/>
          <a:stretch>
            <a:fillRect/>
          </a:stretch>
        </p:blipFill>
        <p:spPr>
          <a:xfrm>
            <a:off x="1620470" y="1463040"/>
            <a:ext cx="8950755"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Las tres opciones del proyecto de ejemplo. Debajo, plegada, la tabla con las quince combinaciones.</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La forma de hacerlo pesa más que el precio</a:t>
            </a:r>
          </a:p>
        </p:txBody>
      </p: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200" b="0" i="0">
                <a:solidFill>
                  <a:srgbClr val="1A1A1A"/>
                </a:solidFill>
                <a:latin typeface="Arial"/>
              </a:rPr>
              <a:t>•  Mismo proyecto de ejemplo (8 piezas, 4 personas), escenario probable:</a:t>
            </a:r>
          </a:p>
          <a:p>
            <a:pPr algn="l">
              <a:lnSpc>
                <a:spcPct val="120000"/>
              </a:lnSpc>
              <a:spcAft>
                <a:spcPts val="1400"/>
              </a:spcAft>
            </a:pPr>
            <a:r>
              <a:rPr sz="2200" b="0" i="0">
                <a:solidFill>
                  <a:srgbClr val="1A1A1A"/>
                </a:solidFill>
                <a:latin typeface="Arial"/>
              </a:rPr>
              <a:t>•  Todo a mano: 2 millones 927 mil pesos y 31 semanas.</a:t>
            </a:r>
          </a:p>
          <a:p>
            <a:pPr algn="l">
              <a:lnSpc>
                <a:spcPct val="120000"/>
              </a:lnSpc>
              <a:spcAft>
                <a:spcPts val="1400"/>
              </a:spcAft>
            </a:pPr>
            <a:r>
              <a:rPr sz="2200" b="0" i="0">
                <a:solidFill>
                  <a:srgbClr val="1A1A1A"/>
                </a:solidFill>
                <a:latin typeface="Arial"/>
              </a:rPr>
              <a:t>•  Híbrido: 904 mil pesos y 12 semanas.</a:t>
            </a:r>
          </a:p>
          <a:p>
            <a:pPr algn="l">
              <a:lnSpc>
                <a:spcPct val="120000"/>
              </a:lnSpc>
              <a:spcAft>
                <a:spcPts val="1400"/>
              </a:spcAft>
            </a:pPr>
            <a:r>
              <a:rPr sz="2200" b="0" i="0">
                <a:solidFill>
                  <a:srgbClr val="1A1A1A"/>
                </a:solidFill>
                <a:latin typeface="Arial"/>
              </a:rPr>
              <a:t>•  Casi todo con inteligencia artificial: 646 mil pesos y 8 semanas.</a:t>
            </a:r>
          </a:p>
          <a:p>
            <a:pPr algn="l">
              <a:lnSpc>
                <a:spcPct val="120000"/>
              </a:lnSpc>
              <a:spcAft>
                <a:spcPts val="1400"/>
              </a:spcAft>
            </a:pPr>
            <a:r>
              <a:rPr sz="2200" b="0" i="0">
                <a:solidFill>
                  <a:srgbClr val="1A1A1A"/>
                </a:solidFill>
                <a:latin typeface="Arial"/>
              </a:rPr>
              <a:t>•  Plataforma de armado: 311 mil pesos y 4 semanas.</a:t>
            </a:r>
          </a:p>
          <a:p>
            <a:pPr algn="l">
              <a:lnSpc>
                <a:spcPct val="120000"/>
              </a:lnSpc>
              <a:spcAft>
                <a:spcPts val="1400"/>
              </a:spcAft>
            </a:pPr>
            <a:r>
              <a:rPr sz="2200" b="1" i="0">
                <a:solidFill>
                  <a:srgbClr val="1F3864"/>
                </a:solidFill>
                <a:latin typeface="Arial"/>
              </a:rPr>
              <a:t>Nueve veces de diferencia entre la forma más cara y la más barata. Y no todas sirven para todos: se descartan por conexiones, datos personales, criticidad, claridad y pericia del equipo.</a:t>
            </a:r>
          </a:p>
        </p:txBody>
      </p:sp>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Cifras del ejemplo público, septiembre de 2026, con los parámetros vigentes.</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Las herramientas de IA se cobran por persona</a:t>
            </a:r>
          </a:p>
        </p:txBody>
      </p:sp>
      <p:pic>
        <p:nvPicPr>
          <p:cNvPr id="4" name="Picture 3" descr="06b_niveles.png"/>
          <p:cNvPicPr>
            <a:picLocks noChangeAspect="1"/>
          </p:cNvPicPr>
          <p:nvPr/>
        </p:nvPicPr>
        <p:blipFill>
          <a:blip r:embed="rId2"/>
          <a:stretch>
            <a:fillRect/>
          </a:stretch>
        </p:blipFill>
        <p:spPr>
          <a:xfrm>
            <a:off x="640080" y="1463040"/>
            <a:ext cx="10911535" cy="3062637"/>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Nivel de herramientas por persona, en la pantalla Calcular. Precios de lista del 9 de septiembre de 2026.</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Lo que se cobra con este equipo</a:t>
            </a:r>
          </a:p>
        </p:txBody>
      </p:sp>
      <p:pic>
        <p:nvPicPr>
          <p:cNvPr id="4" name="Picture 3" descr="06_herramientas_ia.png"/>
          <p:cNvPicPr>
            <a:picLocks noChangeAspect="1"/>
          </p:cNvPicPr>
          <p:nvPr/>
        </p:nvPicPr>
        <p:blipFill>
          <a:blip r:embed="rId2"/>
          <a:stretch>
            <a:fillRect/>
          </a:stretch>
        </p:blipFill>
        <p:spPr>
          <a:xfrm>
            <a:off x="640080" y="1463040"/>
            <a:ext cx="10911535" cy="3373761"/>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Recuadro de herramientas en la pantalla Calcular: cuatro asientos, pericia 3.5 de 5, tipo de cambio 16.92.</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Nómina, cuotas, impuestos y flujo</a:t>
            </a:r>
          </a:p>
        </p:txBody>
      </p:sp>
      <p:pic>
        <p:nvPicPr>
          <p:cNvPr id="4" name="Picture 3" descr="10_resumen_financiero.png"/>
          <p:cNvPicPr>
            <a:picLocks noChangeAspect="1"/>
          </p:cNvPicPr>
          <p:nvPr/>
        </p:nvPicPr>
        <p:blipFill>
          <a:blip r:embed="rId2"/>
          <a:stretch>
            <a:fillRect/>
          </a:stretch>
        </p:blipFill>
        <p:spPr>
          <a:xfrm>
            <a:off x="640080" y="1463040"/>
            <a:ext cx="10911535" cy="2134865"/>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Resumen financiero del ejemplo: precio, herramientas de IA, dinero que se adelanta, la brecha entre formas de hacerlo y los cambios pendientes.</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Las preguntas que hace un patrón, con respuesta</a:t>
            </a:r>
          </a:p>
        </p:txBody>
      </p:sp>
      <p:pic>
        <p:nvPicPr>
          <p:cNvPr id="4" name="Picture 3" descr="11_preguntas_del_patron.png"/>
          <p:cNvPicPr>
            <a:picLocks noChangeAspect="1"/>
          </p:cNvPicPr>
          <p:nvPr/>
        </p:nvPicPr>
        <p:blipFill>
          <a:blip r:embed="rId2"/>
          <a:stretch>
            <a:fillRect/>
          </a:stretch>
        </p:blipFill>
        <p:spPr>
          <a:xfrm>
            <a:off x="3676844" y="1463040"/>
            <a:ext cx="4838007"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Preguntas del patrón y tabla de cambios con las horas ajustadas por la forma de hacerlo.</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El reporte para el Ayuntamiento</a:t>
            </a:r>
          </a:p>
        </p:txBody>
      </p:sp>
      <p:pic>
        <p:nvPicPr>
          <p:cNvPr id="4" name="Picture 3" descr="07_reporte_municipal_r.png"/>
          <p:cNvPicPr>
            <a:picLocks noChangeAspect="1"/>
          </p:cNvPicPr>
          <p:nvPr/>
        </p:nvPicPr>
        <p:blipFill>
          <a:blip r:embed="rId2"/>
          <a:stretch>
            <a:fillRect/>
          </a:stretch>
        </p:blipFill>
        <p:spPr>
          <a:xfrm>
            <a:off x="3196246" y="1463040"/>
            <a:ext cx="5799202"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Reporte para el Ayuntamiento, proyecto de ejemplo.</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La recomendación para el proveedor</a:t>
            </a:r>
          </a:p>
        </p:txBody>
      </p:sp>
      <p:pic>
        <p:nvPicPr>
          <p:cNvPr id="4" name="Picture 3" descr="12_recomendacion.png"/>
          <p:cNvPicPr>
            <a:picLocks noChangeAspect="1"/>
          </p:cNvPicPr>
          <p:nvPr/>
        </p:nvPicPr>
        <p:blipFill>
          <a:blip r:embed="rId2"/>
          <a:stretch>
            <a:fillRect/>
          </a:stretch>
        </p:blipFill>
        <p:spPr>
          <a:xfrm>
            <a:off x="1485618" y="1463040"/>
            <a:ext cx="9220458"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Recuadro de recomendación, proyecto de ejemplo, visto como proveedor.</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Todo con fuente y todo editable</a:t>
            </a:r>
          </a:p>
        </p:txBody>
      </p:sp>
      <p:pic>
        <p:nvPicPr>
          <p:cNvPr id="4" name="Picture 3" descr="08_fuentes_r.png"/>
          <p:cNvPicPr>
            <a:picLocks noChangeAspect="1"/>
          </p:cNvPicPr>
          <p:nvPr/>
        </p:nvPicPr>
        <p:blipFill>
          <a:blip r:embed="rId2"/>
          <a:stretch>
            <a:fillRect/>
          </a:stretch>
        </p:blipFill>
        <p:spPr>
          <a:xfrm>
            <a:off x="3043915" y="1463040"/>
            <a:ext cx="6103865"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Pantalla Fuentes: 64 parámetros con fundamento, dirección y vigencia.</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Un enlace para llevar el resultado</a:t>
            </a:r>
          </a:p>
        </p:txBody>
      </p:sp>
      <p:pic>
        <p:nvPicPr>
          <p:cNvPr id="4" name="Picture 3" descr="14_vista_compartida_r.png"/>
          <p:cNvPicPr>
            <a:picLocks noChangeAspect="1"/>
          </p:cNvPicPr>
          <p:nvPr/>
        </p:nvPicPr>
        <p:blipFill>
          <a:blip r:embed="rId2"/>
          <a:stretch>
            <a:fillRect/>
          </a:stretch>
        </p:blipFill>
        <p:spPr>
          <a:xfrm>
            <a:off x="3043915" y="1463040"/>
            <a:ext cx="6103865"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Vista compartida de solo lectura.</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La encuesta del piloto</a:t>
            </a:r>
          </a:p>
        </p:txBody>
      </p:sp>
      <p:pic>
        <p:nvPicPr>
          <p:cNvPr id="4" name="Picture 3" descr="09_encuesta_piloto.png"/>
          <p:cNvPicPr>
            <a:picLocks noChangeAspect="1"/>
          </p:cNvPicPr>
          <p:nvPr/>
        </p:nvPicPr>
        <p:blipFill>
          <a:blip r:embed="rId2"/>
          <a:stretch>
            <a:fillRect/>
          </a:stretch>
        </p:blipFill>
        <p:spPr>
          <a:xfrm>
            <a:off x="808522" y="1463040"/>
            <a:ext cx="10574650"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Encuesta de salida del piloto, al pie del resultado.</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Lo que el sistema mide sin preguntar</a:t>
            </a:r>
          </a:p>
        </p:txBody>
      </p:sp>
      <p:pic>
        <p:nvPicPr>
          <p:cNvPr id="4" name="Picture 3" descr="15_panel_investigador_r.png"/>
          <p:cNvPicPr>
            <a:picLocks noChangeAspect="1"/>
          </p:cNvPicPr>
          <p:nvPr/>
        </p:nvPicPr>
        <p:blipFill>
          <a:blip r:embed="rId2"/>
          <a:stretch>
            <a:fillRect/>
          </a:stretch>
        </p:blipFill>
        <p:spPr>
          <a:xfrm>
            <a:off x="3010741" y="1463040"/>
            <a:ext cx="6170212" cy="4434840"/>
          </a:xfrm>
          <a:prstGeom prst="rect">
            <a:avLst/>
          </a:prstGeom>
          <a:ln w="9525">
            <a:solidFill>
              <a:srgbClr val="BFBFBF"/>
            </a:solidFill>
          </a:ln>
        </p:spPr>
      </p:pic>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Panel del investigador: tiempo a la primera cifra, por lado de la mesa y encuesta del piloto.</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Plan de validación y difusión</a:t>
            </a:r>
          </a:p>
        </p:txBody>
      </p: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000" b="0" i="0">
                <a:solidFill>
                  <a:srgbClr val="1A1A1A"/>
                </a:solidFill>
                <a:latin typeface="Arial"/>
              </a:rPr>
              <a:t>•  Ola 1, octubre: ayuntamientos. Fresnillo primero y luego municipios cercanos de Zacatecas, por las redes de tesoreros e innovación (CIAPEM). Treinta minutos con un proyecto real o con el ejemplo, y la encuesta de salida.</a:t>
            </a:r>
          </a:p>
          <a:p>
            <a:pPr algn="l">
              <a:lnSpc>
                <a:spcPct val="120000"/>
              </a:lnSpc>
              <a:spcAft>
                <a:spcPts val="1400"/>
              </a:spcAft>
            </a:pPr>
            <a:r>
              <a:rPr sz="2000" b="0" i="0">
                <a:solidFill>
                  <a:srgbClr val="1A1A1A"/>
                </a:solidFill>
                <a:latin typeface="Arial"/>
              </a:rPr>
              <a:t>•  Ola 2, noviembre: desarrolladores y empresas pequeñas. Cotizan un proyecto real en un minuto y dicen si la cifra se acerca a lo que cobrarían.</a:t>
            </a:r>
          </a:p>
          <a:p>
            <a:pPr algn="l">
              <a:lnSpc>
                <a:spcPct val="120000"/>
              </a:lnSpc>
              <a:spcAft>
                <a:spcPts val="1400"/>
              </a:spcAft>
            </a:pPr>
            <a:r>
              <a:rPr sz="2000" b="0" i="0">
                <a:solidFill>
                  <a:srgbClr val="1A1A1A"/>
                </a:solidFill>
                <a:latin typeface="Arial"/>
              </a:rPr>
              <a:t>•  Qué se mide: credibilidad, diferencia entre lo esperado y lo calculado, forma elegida, tiempo a la primera cifra, abandono, y estimado contra real cuando un proyecto termina.</a:t>
            </a:r>
          </a:p>
          <a:p>
            <a:pPr algn="l">
              <a:lnSpc>
                <a:spcPct val="120000"/>
              </a:lnSpc>
              <a:spcAft>
                <a:spcPts val="1400"/>
              </a:spcAft>
            </a:pPr>
            <a:r>
              <a:rPr sz="2000" b="0" i="0">
                <a:solidFill>
                  <a:srgbClr val="1A1A1A"/>
                </a:solidFill>
                <a:latin typeface="Arial"/>
              </a:rPr>
              <a:t>•  Por qué hay espacio: de 242 sistemas integrados a Llave MX, solo 8 son municipales (ATDT, 2025), en un país con 2,469 municipios.</a:t>
            </a:r>
          </a:p>
        </p:txBody>
      </p:sp>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Fuentes: ATDT, 7 de diciembre de 2025; CIAPEM y tapi, Diagnóstico Nacional 2026.</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El modelo se decide con datos, no antes</a:t>
            </a:r>
          </a:p>
        </p:txBody>
      </p: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000" b="0" i="0">
                <a:solidFill>
                  <a:srgbClr val="1A1A1A"/>
                </a:solidFill>
                <a:latin typeface="Arial"/>
              </a:rPr>
              <a:t>•  Hoy el motor es determinista y auditable: cada número se puede rehacer a mano. Todavía no hay casos reales terminados.</a:t>
            </a:r>
          </a:p>
          <a:p>
            <a:pPr algn="l">
              <a:lnSpc>
                <a:spcPct val="120000"/>
              </a:lnSpc>
              <a:spcAft>
                <a:spcPts val="1400"/>
              </a:spcAft>
            </a:pPr>
            <a:r>
              <a:rPr sz="2000" b="0" i="0">
                <a:solidFill>
                  <a:srgbClr val="1A1A1A"/>
                </a:solidFill>
                <a:latin typeface="Arial"/>
              </a:rPr>
              <a:t>•  Con 15 casos terminados, el sistema entrena y compara una regresión, un bosque aleatorio y una red neuronal, con las variables del artículo más la forma de hacerlo, la pericia y el costo de las herramientas. Veredicto con criterios fijados de antemano.</a:t>
            </a:r>
          </a:p>
          <a:p>
            <a:pPr algn="l">
              <a:lnSpc>
                <a:spcPct val="120000"/>
              </a:lnSpc>
              <a:spcAft>
                <a:spcPts val="1400"/>
              </a:spcAft>
            </a:pPr>
            <a:r>
              <a:rPr sz="2000" b="0" i="0">
                <a:solidFill>
                  <a:srgbClr val="1A1A1A"/>
                </a:solidFill>
                <a:latin typeface="Arial"/>
              </a:rPr>
              <a:t>•  La literatura de 2026 va igual: los modelos clásicos fallan cuando quien escribe el código es un modelo (Frontiers in AI, marzo de 2026); el costo se descompone en tokens, supervisión humana e infraestructura (ACEM, agosto de 2026).</a:t>
            </a:r>
          </a:p>
          <a:p>
            <a:pPr algn="l">
              <a:lnSpc>
                <a:spcPct val="120000"/>
              </a:lnSpc>
              <a:spcAft>
                <a:spcPts val="1000"/>
              </a:spcAft>
            </a:pPr>
            <a:r>
              <a:rPr sz="2000" b="1" i="0">
                <a:solidFill>
                  <a:srgbClr val="1F3864"/>
                </a:solidFill>
                <a:latin typeface="Arial"/>
              </a:rPr>
              <a:t>No prometo un modelo. Prometo el método para elegirlo con datos de ayuntamientos reales, que hoy no existen en ningún lado.</a:t>
            </a:r>
          </a:p>
        </p:txBody>
      </p:sp>
      <p:sp>
        <p:nvSpPr>
          <p:cNvPr id="5" name="TextBox 4"/>
          <p:cNvSpPr txBox="1"/>
          <p:nvPr/>
        </p:nvSpPr>
        <p:spPr>
          <a:xfrm>
            <a:off x="640080" y="5989320"/>
            <a:ext cx="9997135" cy="502920"/>
          </a:xfrm>
          <a:prstGeom prst="rect">
            <a:avLst/>
          </a:prstGeom>
          <a:noFill/>
        </p:spPr>
        <p:txBody>
          <a:bodyPr wrap="square" anchor="b" lIns="45720" rIns="45720" tIns="27432" bIns="27432">
            <a:spAutoFit/>
          </a:bodyPr>
          <a:lstStyle/>
          <a:p>
            <a:pPr algn="l">
              <a:lnSpc>
                <a:spcPct val="120000"/>
              </a:lnSpc>
              <a:spcAft>
                <a:spcPts val="1000"/>
              </a:spcAft>
            </a:pPr>
            <a:r>
              <a:rPr sz="1200" b="0" i="0">
                <a:solidFill>
                  <a:srgbClr val="1A1A1A"/>
                </a:solidFill>
                <a:latin typeface="Arial"/>
              </a:rPr>
              <a:t>Fuentes: Alaswad, Poovammal y Aljaddouh, Frontiers in Artificial Intelligence, 2026; El-Ramly, ACEM, arXiv 2608.02582, 2026.</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Límites, dichos de frente</a:t>
            </a:r>
          </a:p>
        </p:txBody>
      </p: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200" b="0" i="0">
                <a:solidFill>
                  <a:srgbClr val="1A1A1A"/>
                </a:solidFill>
                <a:latin typeface="Arial"/>
              </a:rPr>
              <a:t>•  Todavía no hay casos reales terminados. La hipótesis está probada con datos públicos; la validación del sistema es lo que sigue.</a:t>
            </a:r>
          </a:p>
          <a:p>
            <a:pPr algn="l">
              <a:lnSpc>
                <a:spcPct val="120000"/>
              </a:lnSpc>
              <a:spcAft>
                <a:spcPts val="1400"/>
              </a:spcAft>
            </a:pPr>
            <a:r>
              <a:rPr sz="2200" b="0" i="0">
                <a:solidFill>
                  <a:srgbClr val="1A1A1A"/>
                </a:solidFill>
                <a:latin typeface="Arial"/>
              </a:rPr>
              <a:t>•  Los precios de las herramientas y los factores de productividad cambian mes con mes. Por eso son parámetros con fecha, editables, y no números fijos en el código.</a:t>
            </a:r>
          </a:p>
          <a:p>
            <a:pPr algn="l">
              <a:lnSpc>
                <a:spcPct val="120000"/>
              </a:lnSpc>
              <a:spcAft>
                <a:spcPts val="1400"/>
              </a:spcAft>
            </a:pPr>
            <a:r>
              <a:rPr sz="2200" b="0" i="0">
                <a:solidFill>
                  <a:srgbClr val="1A1A1A"/>
                </a:solidFill>
                <a:latin typeface="Arial"/>
              </a:rPr>
              <a:t>•  El sistema estima, no dictamina. La determinación fiscal y laboral requiere revisión profesional, y lo dice en cada pantalla.</a:t>
            </a:r>
          </a:p>
          <a:p>
            <a:pPr algn="l">
              <a:lnSpc>
                <a:spcPct val="120000"/>
              </a:lnSpc>
              <a:spcAft>
                <a:spcPts val="1400"/>
              </a:spcAft>
            </a:pPr>
            <a:r>
              <a:rPr sz="2200" b="0" i="0">
                <a:solidFill>
                  <a:srgbClr val="1A1A1A"/>
                </a:solidFill>
                <a:latin typeface="Arial"/>
              </a:rPr>
              <a:t>•  La encuesta la contesta quien quiere, así que hay sesgo. Por eso también se mide sin preguntar: tiempo, abandono, decisión.</a:t>
            </a:r>
          </a:p>
          <a:p>
            <a:pPr algn="l">
              <a:lnSpc>
                <a:spcPct val="120000"/>
              </a:lnSpc>
              <a:spcAft>
                <a:spcPts val="1400"/>
              </a:spcAft>
            </a:pPr>
            <a:r>
              <a:rPr sz="2200" b="0" i="0">
                <a:solidFill>
                  <a:srgbClr val="1A1A1A"/>
                </a:solidFill>
                <a:latin typeface="Arial"/>
              </a:rPr>
              <a:t>•  Mucha evidencia de 2026 viene de empresas interesadas. En la tesis se separa lo que viene de ensayos controlados de lo que viene de encuestas y folletos.</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Cronograma, agosto a diciembre de 2026</a:t>
            </a:r>
          </a:p>
        </p:txBody>
      </p:sp>
      <p:graphicFrame>
        <p:nvGraphicFramePr>
          <p:cNvPr id="4" name="Table 3"/>
          <p:cNvGraphicFramePr>
            <a:graphicFrameLocks noGrp="1"/>
          </p:cNvGraphicFramePr>
          <p:nvPr/>
        </p:nvGraphicFramePr>
        <p:xfrm>
          <a:off x="640080" y="1554480"/>
          <a:ext cx="10881360" cy="3474720"/>
        </p:xfrm>
        <a:graphic>
          <a:graphicData uri="http://schemas.openxmlformats.org/drawingml/2006/table">
            <a:tbl>
              <a:tblPr firstRow="1" bandRow="1">
                <a:tableStyleId>{5C22544A-7EE6-4342-B048-85BDC9FD1C3A}</a:tableStyleId>
              </a:tblPr>
              <a:tblGrid>
                <a:gridCol w="1737360"/>
                <a:gridCol w="7680960"/>
                <a:gridCol w="1463040"/>
              </a:tblGrid>
              <a:tr h="579120">
                <a:tc>
                  <a:txBody>
                    <a:bodyPr/>
                    <a:lstStyle/>
                    <a:p>
                      <a:r>
                        <a:rPr sz="1400" b="1">
                          <a:solidFill>
                            <a:srgbClr val="FFFFFF"/>
                          </a:solidFill>
                          <a:latin typeface="Arial"/>
                        </a:rPr>
                        <a:t>Mes</a:t>
                      </a:r>
                    </a:p>
                  </a:txBody>
                  <a:tcPr>
                    <a:solidFill>
                      <a:srgbClr val="1F3864"/>
                    </a:solidFill>
                  </a:tcPr>
                </a:tc>
                <a:tc>
                  <a:txBody>
                    <a:bodyPr/>
                    <a:lstStyle/>
                    <a:p>
                      <a:r>
                        <a:rPr sz="1400" b="1">
                          <a:solidFill>
                            <a:srgbClr val="FFFFFF"/>
                          </a:solidFill>
                          <a:latin typeface="Arial"/>
                        </a:rPr>
                        <a:t>Actividad</a:t>
                      </a:r>
                    </a:p>
                  </a:txBody>
                  <a:tcPr>
                    <a:solidFill>
                      <a:srgbClr val="1F3864"/>
                    </a:solidFill>
                  </a:tcPr>
                </a:tc>
                <a:tc>
                  <a:txBody>
                    <a:bodyPr/>
                    <a:lstStyle/>
                    <a:p>
                      <a:r>
                        <a:rPr sz="1400" b="1">
                          <a:solidFill>
                            <a:srgbClr val="FFFFFF"/>
                          </a:solidFill>
                          <a:latin typeface="Arial"/>
                        </a:rPr>
                        <a:t>Estado</a:t>
                      </a:r>
                    </a:p>
                  </a:txBody>
                  <a:tcPr>
                    <a:solidFill>
                      <a:srgbClr val="1F3864"/>
                    </a:solidFill>
                  </a:tcPr>
                </a:tc>
              </a:tr>
              <a:tr h="579120">
                <a:tc>
                  <a:txBody>
                    <a:bodyPr/>
                    <a:lstStyle/>
                    <a:p>
                      <a:r>
                        <a:rPr sz="1500" b="1">
                          <a:solidFill>
                            <a:srgbClr val="1A1A1A"/>
                          </a:solidFill>
                          <a:latin typeface="Arial"/>
                        </a:rPr>
                        <a:t>Agosto</a:t>
                      </a:r>
                    </a:p>
                  </a:txBody>
                  <a:tcPr>
                    <a:solidFill>
                      <a:srgbClr val="FFFFFF"/>
                    </a:solidFill>
                  </a:tcPr>
                </a:tc>
                <a:tc>
                  <a:txBody>
                    <a:bodyPr/>
                    <a:lstStyle/>
                    <a:p>
                      <a:r>
                        <a:rPr sz="1500" b="0">
                          <a:solidFill>
                            <a:srgbClr val="1A1A1A"/>
                          </a:solidFill>
                          <a:latin typeface="Arial"/>
                        </a:rPr>
                        <a:t>Radiografía de la tesis y matriz de seguimiento.</a:t>
                      </a:r>
                    </a:p>
                  </a:txBody>
                  <a:tcPr>
                    <a:solidFill>
                      <a:srgbClr val="FFFFFF"/>
                    </a:solidFill>
                  </a:tcPr>
                </a:tc>
                <a:tc>
                  <a:txBody>
                    <a:bodyPr/>
                    <a:lstStyle/>
                    <a:p>
                      <a:r>
                        <a:rPr sz="1500" b="0">
                          <a:solidFill>
                            <a:srgbClr val="1A1A1A"/>
                          </a:solidFill>
                          <a:latin typeface="Arial"/>
                        </a:rPr>
                        <a:t>Entregado</a:t>
                      </a:r>
                    </a:p>
                  </a:txBody>
                  <a:tcPr>
                    <a:solidFill>
                      <a:srgbClr val="FFFFFF"/>
                    </a:solidFill>
                  </a:tcPr>
                </a:tc>
              </a:tr>
              <a:tr h="579120">
                <a:tc>
                  <a:txBody>
                    <a:bodyPr/>
                    <a:lstStyle/>
                    <a:p>
                      <a:r>
                        <a:rPr sz="1500" b="1">
                          <a:solidFill>
                            <a:srgbClr val="1A1A1A"/>
                          </a:solidFill>
                          <a:latin typeface="Arial"/>
                        </a:rPr>
                        <a:t>Septiembre</a:t>
                      </a:r>
                    </a:p>
                  </a:txBody>
                  <a:tcPr>
                    <a:solidFill>
                      <a:srgbClr val="FFFFFF"/>
                    </a:solidFill>
                  </a:tcPr>
                </a:tc>
                <a:tc>
                  <a:txBody>
                    <a:bodyPr/>
                    <a:lstStyle/>
                    <a:p>
                      <a:r>
                        <a:rPr sz="1500" b="0">
                          <a:solidFill>
                            <a:srgbClr val="1A1A1A"/>
                          </a:solidFill>
                          <a:latin typeface="Arial"/>
                        </a:rPr>
                        <a:t>Sistema con herramientas de IA, pericia del equipo, cotización rápida, enlace para compartir y encuesta del piloto. Desplegado en el servidor.</a:t>
                      </a:r>
                    </a:p>
                  </a:txBody>
                  <a:tcPr>
                    <a:solidFill>
                      <a:srgbClr val="FFFFFF"/>
                    </a:solidFill>
                  </a:tcPr>
                </a:tc>
                <a:tc>
                  <a:txBody>
                    <a:bodyPr/>
                    <a:lstStyle/>
                    <a:p>
                      <a:r>
                        <a:rPr sz="1500" b="0">
                          <a:solidFill>
                            <a:srgbClr val="1A1A1A"/>
                          </a:solidFill>
                          <a:latin typeface="Arial"/>
                        </a:rPr>
                        <a:t>Hecho</a:t>
                      </a:r>
                    </a:p>
                  </a:txBody>
                  <a:tcPr>
                    <a:solidFill>
                      <a:srgbClr val="FFFFFF"/>
                    </a:solidFill>
                  </a:tcPr>
                </a:tc>
              </a:tr>
              <a:tr h="579120">
                <a:tc>
                  <a:txBody>
                    <a:bodyPr/>
                    <a:lstStyle/>
                    <a:p>
                      <a:r>
                        <a:rPr sz="1500" b="1">
                          <a:solidFill>
                            <a:srgbClr val="1A1A1A"/>
                          </a:solidFill>
                          <a:latin typeface="Arial"/>
                        </a:rPr>
                        <a:t>Octubre</a:t>
                      </a:r>
                    </a:p>
                  </a:txBody>
                  <a:tcPr>
                    <a:solidFill>
                      <a:srgbClr val="FFFFFF"/>
                    </a:solidFill>
                  </a:tcPr>
                </a:tc>
                <a:tc>
                  <a:txBody>
                    <a:bodyPr/>
                    <a:lstStyle/>
                    <a:p>
                      <a:r>
                        <a:rPr sz="1500" b="0">
                          <a:solidFill>
                            <a:srgbClr val="1A1A1A"/>
                          </a:solidFill>
                          <a:latin typeface="Arial"/>
                        </a:rPr>
                        <a:t>Ola 1 del piloto: Fresnillo y municipios cercanos.</a:t>
                      </a:r>
                    </a:p>
                  </a:txBody>
                  <a:tcPr>
                    <a:solidFill>
                      <a:srgbClr val="FFFFFF"/>
                    </a:solidFill>
                  </a:tcPr>
                </a:tc>
                <a:tc>
                  <a:txBody>
                    <a:bodyPr/>
                    <a:lstStyle/>
                    <a:p>
                      <a:r>
                        <a:rPr sz="1500" b="0">
                          <a:solidFill>
                            <a:srgbClr val="1A1A1A"/>
                          </a:solidFill>
                          <a:latin typeface="Arial"/>
                        </a:rPr>
                        <a:t>Por hacer</a:t>
                      </a:r>
                    </a:p>
                  </a:txBody>
                  <a:tcPr>
                    <a:solidFill>
                      <a:srgbClr val="FFFFFF"/>
                    </a:solidFill>
                  </a:tcPr>
                </a:tc>
              </a:tr>
              <a:tr h="579120">
                <a:tc>
                  <a:txBody>
                    <a:bodyPr/>
                    <a:lstStyle/>
                    <a:p>
                      <a:r>
                        <a:rPr sz="1500" b="1">
                          <a:solidFill>
                            <a:srgbClr val="1A1A1A"/>
                          </a:solidFill>
                          <a:latin typeface="Arial"/>
                        </a:rPr>
                        <a:t>Noviembre</a:t>
                      </a:r>
                    </a:p>
                  </a:txBody>
                  <a:tcPr>
                    <a:solidFill>
                      <a:srgbClr val="FFFFFF"/>
                    </a:solidFill>
                  </a:tcPr>
                </a:tc>
                <a:tc>
                  <a:txBody>
                    <a:bodyPr/>
                    <a:lstStyle/>
                    <a:p>
                      <a:r>
                        <a:rPr sz="1500" b="0">
                          <a:solidFill>
                            <a:srgbClr val="1A1A1A"/>
                          </a:solidFill>
                          <a:latin typeface="Arial"/>
                        </a:rPr>
                        <a:t>Ola 2: desarrolladores y empresas pequeñas. Análisis de la encuesta y de las métricas de uso.</a:t>
                      </a:r>
                    </a:p>
                  </a:txBody>
                  <a:tcPr>
                    <a:solidFill>
                      <a:srgbClr val="FFFFFF"/>
                    </a:solidFill>
                  </a:tcPr>
                </a:tc>
                <a:tc>
                  <a:txBody>
                    <a:bodyPr/>
                    <a:lstStyle/>
                    <a:p>
                      <a:r>
                        <a:rPr sz="1500" b="0">
                          <a:solidFill>
                            <a:srgbClr val="1A1A1A"/>
                          </a:solidFill>
                          <a:latin typeface="Arial"/>
                        </a:rPr>
                        <a:t>Por hacer</a:t>
                      </a:r>
                    </a:p>
                  </a:txBody>
                  <a:tcPr>
                    <a:solidFill>
                      <a:srgbClr val="FFFFFF"/>
                    </a:solidFill>
                  </a:tcPr>
                </a:tc>
              </a:tr>
              <a:tr h="579120">
                <a:tc>
                  <a:txBody>
                    <a:bodyPr/>
                    <a:lstStyle/>
                    <a:p>
                      <a:r>
                        <a:rPr sz="1500" b="1">
                          <a:solidFill>
                            <a:srgbClr val="1A1A1A"/>
                          </a:solidFill>
                          <a:latin typeface="Arial"/>
                        </a:rPr>
                        <a:t>Diciembre</a:t>
                      </a:r>
                    </a:p>
                  </a:txBody>
                  <a:tcPr>
                    <a:solidFill>
                      <a:srgbClr val="FFFFFF"/>
                    </a:solidFill>
                  </a:tcPr>
                </a:tc>
                <a:tc>
                  <a:txBody>
                    <a:bodyPr/>
                    <a:lstStyle/>
                    <a:p>
                      <a:r>
                        <a:rPr sz="1500" b="0">
                          <a:solidFill>
                            <a:srgbClr val="1A1A1A"/>
                          </a:solidFill>
                          <a:latin typeface="Arial"/>
                        </a:rPr>
                        <a:t>Resultados, capítulo de validación y presentación final.</a:t>
                      </a:r>
                    </a:p>
                  </a:txBody>
                  <a:tcPr>
                    <a:solidFill>
                      <a:srgbClr val="FFFFFF"/>
                    </a:solidFill>
                  </a:tcPr>
                </a:tc>
                <a:tc>
                  <a:txBody>
                    <a:bodyPr/>
                    <a:lstStyle/>
                    <a:p>
                      <a:r>
                        <a:rPr sz="1500" b="0">
                          <a:solidFill>
                            <a:srgbClr val="1A1A1A"/>
                          </a:solidFill>
                          <a:latin typeface="Arial"/>
                        </a:rPr>
                        <a:t>Por hacer</a:t>
                      </a:r>
                    </a:p>
                  </a:txBody>
                  <a:tcPr>
                    <a:solidFill>
                      <a:srgbClr val="FFFFFF"/>
                    </a:solidFill>
                  </a:tcPr>
                </a:tc>
              </a:tr>
            </a:tbl>
          </a:graphicData>
        </a:graphic>
      </p:graphicFrame>
      <p:sp>
        <p:nvSpPr>
          <p:cNvPr id="5" name="TextBox 4"/>
          <p:cNvSpPr txBox="1"/>
          <p:nvPr/>
        </p:nvSpPr>
        <p:spPr>
          <a:xfrm>
            <a:off x="640080" y="5212080"/>
            <a:ext cx="10911535" cy="822960"/>
          </a:xfrm>
          <a:prstGeom prst="rect">
            <a:avLst/>
          </a:prstGeom>
          <a:noFill/>
        </p:spPr>
        <p:txBody>
          <a:bodyPr wrap="square" anchor="t" lIns="45720" rIns="45720" tIns="27432" bIns="27432">
            <a:spAutoFit/>
          </a:bodyPr>
          <a:lstStyle/>
          <a:p>
            <a:pPr algn="l">
              <a:lnSpc>
                <a:spcPct val="120000"/>
              </a:lnSpc>
              <a:spcAft>
                <a:spcPts val="1000"/>
              </a:spcAft>
            </a:pPr>
            <a:r>
              <a:rPr sz="1500" b="0" i="0">
                <a:solidFill>
                  <a:srgbClr val="595959"/>
                </a:solidFill>
                <a:latin typeface="Arial"/>
              </a:rPr>
              <a:t>Cuántos proyectos terminan dentro del semestre no depende del alumno; por eso el piloto mide credibilidad y tiempo a la primera cifra, que sí se pueden tener en estas fechas, y deja sembrada la captura del resultado real para después.</a:t>
            </a:r>
          </a:p>
        </p:txBody>
      </p:sp>
      <p:sp>
        <p:nvSpPr>
          <p:cNvPr id="6" name="TextBox 5"/>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Lo que pido</a:t>
            </a:r>
          </a:p>
        </p:txBody>
      </p:sp>
      <p:sp>
        <p:nvSpPr>
          <p:cNvPr id="4" name="TextBox 3"/>
          <p:cNvSpPr txBox="1"/>
          <p:nvPr/>
        </p:nvSpPr>
        <p:spPr>
          <a:xfrm>
            <a:off x="731520" y="1554480"/>
            <a:ext cx="10728655" cy="4297680"/>
          </a:xfrm>
          <a:prstGeom prst="rect">
            <a:avLst/>
          </a:prstGeom>
          <a:noFill/>
        </p:spPr>
        <p:txBody>
          <a:bodyPr wrap="square" anchor="t" lIns="45720" rIns="45720" tIns="27432" bIns="27432">
            <a:spAutoFit/>
          </a:bodyPr>
          <a:lstStyle/>
          <a:p>
            <a:pPr algn="l">
              <a:lnSpc>
                <a:spcPct val="120000"/>
              </a:lnSpc>
              <a:spcAft>
                <a:spcPts val="1400"/>
              </a:spcAft>
            </a:pPr>
            <a:r>
              <a:rPr sz="2200" b="0" i="0">
                <a:solidFill>
                  <a:srgbClr val="1A1A1A"/>
                </a:solidFill>
                <a:latin typeface="Arial"/>
              </a:rPr>
              <a:t>•  Al jurado: su opinión sobre el instrumento del piloto, las cuatro preguntas, las métricas y el umbral de quince casos.</a:t>
            </a:r>
          </a:p>
          <a:p>
            <a:pPr algn="l">
              <a:lnSpc>
                <a:spcPct val="120000"/>
              </a:lnSpc>
              <a:spcAft>
                <a:spcPts val="1400"/>
              </a:spcAft>
            </a:pPr>
            <a:r>
              <a:rPr sz="2200" b="0" i="0">
                <a:solidFill>
                  <a:srgbClr val="1A1A1A"/>
                </a:solidFill>
                <a:latin typeface="Arial"/>
              </a:rPr>
              <a:t>•  A los ayuntamientos: treinta minutos para probarlo con un proyecto real. Sin cuenta, sin instalación.</a:t>
            </a:r>
          </a:p>
          <a:p>
            <a:pPr algn="l">
              <a:lnSpc>
                <a:spcPct val="120000"/>
              </a:lnSpc>
              <a:spcAft>
                <a:spcPts val="1400"/>
              </a:spcAft>
            </a:pPr>
            <a:r>
              <a:rPr sz="2200" b="0" i="0">
                <a:solidFill>
                  <a:srgbClr val="1A1A1A"/>
                </a:solidFill>
                <a:latin typeface="Arial"/>
              </a:rPr>
              <a:t>•  A los proveedores: cotizar un proyecto real y decirme si la cifra se acerca a lo que cobrarían.</a:t>
            </a:r>
          </a:p>
          <a:p>
            <a:pPr algn="l">
              <a:lnSpc>
                <a:spcPct val="125000"/>
              </a:lnSpc>
              <a:spcAft>
                <a:spcPts val="1400"/>
              </a:spcAft>
            </a:pPr>
            <a:r>
              <a:rPr sz="2400" b="1" i="0">
                <a:solidFill>
                  <a:srgbClr val="1F3864"/>
                </a:solidFill>
                <a:latin typeface="Arial"/>
              </a:rPr>
              <a:t>Los tiempos ya cambiaron. El que cotiza como antes, o compra como antes, va a perder. Este sistema es una forma de que los dos lados de la mesa vean el mismo número, con todo lo que trae adentro, antes de firmar.</a:t>
            </a:r>
          </a:p>
          <a:p>
            <a:pPr algn="l">
              <a:lnSpc>
                <a:spcPct val="120000"/>
              </a:lnSpc>
              <a:spcAft>
                <a:spcPts val="600"/>
              </a:spcAft>
            </a:pPr>
            <a:r>
              <a:rPr sz="2200" b="0" i="0">
                <a:solidFill>
                  <a:srgbClr val="595959"/>
                </a:solidFill>
                <a:latin typeface="Arial"/>
              </a:rPr>
              <a:t>Gracias.</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Referencias (1 de 2)</a:t>
            </a:r>
          </a:p>
        </p:txBody>
      </p:sp>
      <p:sp>
        <p:nvSpPr>
          <p:cNvPr id="4" name="TextBox 3"/>
          <p:cNvSpPr txBox="1"/>
          <p:nvPr/>
        </p:nvSpPr>
        <p:spPr>
          <a:xfrm>
            <a:off x="640080" y="1463040"/>
            <a:ext cx="10911535" cy="4937760"/>
          </a:xfrm>
          <a:prstGeom prst="rect">
            <a:avLst/>
          </a:prstGeom>
          <a:noFill/>
        </p:spPr>
        <p:txBody>
          <a:bodyPr wrap="square" anchor="t" lIns="45720" rIns="45720" tIns="27432" bIns="27432">
            <a:spAutoFit/>
          </a:bodyPr>
          <a:lstStyle/>
          <a:p>
            <a:pPr algn="l">
              <a:lnSpc>
                <a:spcPct val="110000"/>
              </a:lnSpc>
              <a:spcAft>
                <a:spcPts val="500"/>
              </a:spcAft>
            </a:pPr>
            <a:r>
              <a:rPr sz="1200" b="0" i="0">
                <a:solidFill>
                  <a:srgbClr val="1A1A1A"/>
                </a:solidFill>
                <a:latin typeface="Arial"/>
              </a:rPr>
              <a:t>1. Stack Overflow. Developer Survey 2024, 2025 y 2026. survey.stackoverflow.co. Consultado el 18 de septiembre de 2026.</a:t>
            </a:r>
          </a:p>
          <a:p>
            <a:pPr algn="l">
              <a:lnSpc>
                <a:spcPct val="110000"/>
              </a:lnSpc>
              <a:spcAft>
                <a:spcPts val="500"/>
              </a:spcAft>
            </a:pPr>
            <a:r>
              <a:rPr sz="1200" b="0" i="0">
                <a:solidFill>
                  <a:srgbClr val="1A1A1A"/>
                </a:solidFill>
                <a:latin typeface="Arial"/>
              </a:rPr>
              <a:t>2. JetBrains. AI coding agent adoption 2026. blog.jetbrains.com/research. Agosto de 2026.</a:t>
            </a:r>
          </a:p>
          <a:p>
            <a:pPr algn="l">
              <a:lnSpc>
                <a:spcPct val="110000"/>
              </a:lnSpc>
              <a:spcAft>
                <a:spcPts val="500"/>
              </a:spcAft>
            </a:pPr>
            <a:r>
              <a:rPr sz="1200" b="0" i="0">
                <a:solidFill>
                  <a:srgbClr val="1A1A1A"/>
                </a:solidFill>
                <a:latin typeface="Arial"/>
              </a:rPr>
              <a:t>3. GitHub. Octoverse 2025. github.blog. 31 de octubre de 2025.</a:t>
            </a:r>
          </a:p>
          <a:p>
            <a:pPr algn="l">
              <a:lnSpc>
                <a:spcPct val="110000"/>
              </a:lnSpc>
              <a:spcAft>
                <a:spcPts val="500"/>
              </a:spcAft>
            </a:pPr>
            <a:r>
              <a:rPr sz="1200" b="0" i="0">
                <a:solidFill>
                  <a:srgbClr val="1A1A1A"/>
                </a:solidFill>
                <a:latin typeface="Arial"/>
              </a:rPr>
              <a:t>4. Gartner. Enterprise AI coding agents market. Comunicado del 20 de mayo de 2026.</a:t>
            </a:r>
          </a:p>
          <a:p>
            <a:pPr algn="l">
              <a:lnSpc>
                <a:spcPct val="110000"/>
              </a:lnSpc>
              <a:spcAft>
                <a:spcPts val="500"/>
              </a:spcAft>
            </a:pPr>
            <a:r>
              <a:rPr sz="1200" b="0" i="0">
                <a:solidFill>
                  <a:srgbClr val="1A1A1A"/>
                </a:solidFill>
                <a:latin typeface="Arial"/>
              </a:rPr>
              <a:t>5. DORA. State of AI-assisted Software Development 2025 y ROI report 2026. dora.dev.</a:t>
            </a:r>
          </a:p>
          <a:p>
            <a:pPr algn="l">
              <a:lnSpc>
                <a:spcPct val="110000"/>
              </a:lnSpc>
              <a:spcAft>
                <a:spcPts val="500"/>
              </a:spcAft>
            </a:pPr>
            <a:r>
              <a:rPr sz="1200" b="0" i="0">
                <a:solidFill>
                  <a:srgbClr val="1A1A1A"/>
                </a:solidFill>
                <a:latin typeface="Arial"/>
              </a:rPr>
              <a:t>6. METR. Measuring the impact of early-2025 AI on experienced open-source developer productivity (julio de 2025) y Uplift update (24 de febrero de 2026). metr.org.</a:t>
            </a:r>
          </a:p>
          <a:p>
            <a:pPr algn="l">
              <a:lnSpc>
                <a:spcPct val="110000"/>
              </a:lnSpc>
              <a:spcAft>
                <a:spcPts val="500"/>
              </a:spcAft>
            </a:pPr>
            <a:r>
              <a:rPr sz="1200" b="0" i="0">
                <a:solidFill>
                  <a:srgbClr val="1A1A1A"/>
                </a:solidFill>
                <a:latin typeface="Arial"/>
              </a:rPr>
              <a:t>7. GitClear. The Maintainability Gap: AI code quality 2023 to 2026. Enero de 2026.</a:t>
            </a:r>
          </a:p>
          <a:p>
            <a:pPr algn="l">
              <a:lnSpc>
                <a:spcPct val="110000"/>
              </a:lnSpc>
              <a:spcAft>
                <a:spcPts val="500"/>
              </a:spcAft>
            </a:pPr>
            <a:r>
              <a:rPr sz="1200" b="0" i="0">
                <a:solidFill>
                  <a:srgbClr val="1A1A1A"/>
                </a:solidFill>
                <a:latin typeface="Arial"/>
              </a:rPr>
              <a:t>8. Veracode. GenAI Code Security, actualización de primavera 2026. 24 de marzo de 2026.</a:t>
            </a:r>
          </a:p>
          <a:p>
            <a:pPr algn="l">
              <a:lnSpc>
                <a:spcPct val="110000"/>
              </a:lnSpc>
              <a:spcAft>
                <a:spcPts val="500"/>
              </a:spcAft>
            </a:pPr>
            <a:r>
              <a:rPr sz="1200" b="0" i="0">
                <a:solidFill>
                  <a:srgbClr val="1A1A1A"/>
                </a:solidFill>
                <a:latin typeface="Arial"/>
              </a:rPr>
              <a:t>9. LinearB. Software Engineering Benchmarks 2026. linearb.io.</a:t>
            </a:r>
          </a:p>
          <a:p>
            <a:pPr algn="l">
              <a:lnSpc>
                <a:spcPct val="110000"/>
              </a:lnSpc>
              <a:spcAft>
                <a:spcPts val="500"/>
              </a:spcAft>
            </a:pPr>
            <a:r>
              <a:rPr sz="1200" b="0" i="0">
                <a:solidFill>
                  <a:srgbClr val="1A1A1A"/>
                </a:solidFill>
                <a:latin typeface="Arial"/>
              </a:rPr>
              <a:t>10. Atlassian. AI-native SDLC: paying off per developer per week. 31 de mayo de 2026.</a:t>
            </a:r>
          </a:p>
          <a:p>
            <a:pPr algn="l">
              <a:lnSpc>
                <a:spcPct val="110000"/>
              </a:lnSpc>
              <a:spcAft>
                <a:spcPts val="500"/>
              </a:spcAft>
            </a:pPr>
            <a:r>
              <a:rPr sz="1200" b="0" i="0">
                <a:solidFill>
                  <a:srgbClr val="1A1A1A"/>
                </a:solidFill>
                <a:latin typeface="Arial"/>
              </a:rPr>
              <a:t>11. arXiv 2607.01904. Longitudinal study of a 2x productivity mandate, 802 developers, 196,212 PRs. Julio de 2026.</a:t>
            </a:r>
          </a:p>
          <a:p>
            <a:pPr algn="l">
              <a:lnSpc>
                <a:spcPct val="110000"/>
              </a:lnSpc>
              <a:spcAft>
                <a:spcPts val="500"/>
              </a:spcAft>
            </a:pPr>
            <a:r>
              <a:rPr sz="1200" b="0" i="0">
                <a:solidFill>
                  <a:srgbClr val="1A1A1A"/>
                </a:solidFill>
                <a:latin typeface="Arial"/>
              </a:rPr>
              <a:t>12. arXiv 2602.00164. Empirical study of agent-authored bug-fixing pull requests. Enero de 2026.</a:t>
            </a:r>
          </a:p>
          <a:p>
            <a:pPr algn="l">
              <a:lnSpc>
                <a:spcPct val="110000"/>
              </a:lnSpc>
              <a:spcAft>
                <a:spcPts val="500"/>
              </a:spcAft>
            </a:pPr>
            <a:r>
              <a:rPr sz="1200" b="0" i="0">
                <a:solidFill>
                  <a:srgbClr val="1A1A1A"/>
                </a:solidFill>
                <a:latin typeface="Arial"/>
              </a:rPr>
              <a:t>13. Alaswad, Poovammal y Aljaddouh. Toward LLM-aware software effort estimation. Frontiers in Artificial Intelligence. 23 de marzo de 2026.</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9728"/>
            <a:ext cx="10911535" cy="841248"/>
          </a:xfrm>
          <a:prstGeom prst="rect">
            <a:avLst/>
          </a:prstGeom>
          <a:noFill/>
        </p:spPr>
        <p:txBody>
          <a:bodyPr wrap="square" anchor="ctr" lIns="45720" rIns="45720" tIns="27432" bIns="27432">
            <a:spAutoFit/>
          </a:bodyPr>
          <a:lstStyle/>
          <a:p>
            <a:pPr algn="l">
              <a:lnSpc>
                <a:spcPct val="120000"/>
              </a:lnSpc>
              <a:spcAft>
                <a:spcPts val="1000"/>
              </a:spcAft>
            </a:pPr>
            <a:r>
              <a:rPr sz="2800" b="1" i="0">
                <a:solidFill>
                  <a:srgbClr val="FFFFFF"/>
                </a:solidFill>
                <a:latin typeface="Arial"/>
              </a:rPr>
              <a:t>Referencias (2 de 2)</a:t>
            </a:r>
          </a:p>
        </p:txBody>
      </p:sp>
      <p:sp>
        <p:nvSpPr>
          <p:cNvPr id="4" name="TextBox 3"/>
          <p:cNvSpPr txBox="1"/>
          <p:nvPr/>
        </p:nvSpPr>
        <p:spPr>
          <a:xfrm>
            <a:off x="640080" y="1463040"/>
            <a:ext cx="10911535" cy="4937760"/>
          </a:xfrm>
          <a:prstGeom prst="rect">
            <a:avLst/>
          </a:prstGeom>
          <a:noFill/>
        </p:spPr>
        <p:txBody>
          <a:bodyPr wrap="square" anchor="t" lIns="45720" rIns="45720" tIns="27432" bIns="27432">
            <a:spAutoFit/>
          </a:bodyPr>
          <a:lstStyle/>
          <a:p>
            <a:pPr algn="l">
              <a:lnSpc>
                <a:spcPct val="110000"/>
              </a:lnSpc>
              <a:spcAft>
                <a:spcPts val="500"/>
              </a:spcAft>
            </a:pPr>
            <a:r>
              <a:rPr sz="1200" b="0" i="0">
                <a:solidFill>
                  <a:srgbClr val="1A1A1A"/>
                </a:solidFill>
                <a:latin typeface="Arial"/>
              </a:rPr>
              <a:t>14. El-Ramly, M. ACEM: A Cost Estimation Model for Agentic Software Engineering. arXiv 2608.02582. Agosto de 2026.</a:t>
            </a:r>
          </a:p>
          <a:p>
            <a:pPr algn="l">
              <a:lnSpc>
                <a:spcPct val="110000"/>
              </a:lnSpc>
              <a:spcAft>
                <a:spcPts val="500"/>
              </a:spcAft>
            </a:pPr>
            <a:r>
              <a:rPr sz="1200" b="0" i="0">
                <a:solidFill>
                  <a:srgbClr val="1A1A1A"/>
                </a:solidFill>
                <a:latin typeface="Arial"/>
              </a:rPr>
              <a:t>15. Shetty y otros. Story Point Estimation Using Large Language Models. arXiv 2603.06276. Marzo de 2026.</a:t>
            </a:r>
          </a:p>
          <a:p>
            <a:pPr algn="l">
              <a:lnSpc>
                <a:spcPct val="110000"/>
              </a:lnSpc>
              <a:spcAft>
                <a:spcPts val="500"/>
              </a:spcAft>
            </a:pPr>
            <a:r>
              <a:rPr sz="1200" b="0" i="0">
                <a:solidFill>
                  <a:srgbClr val="1A1A1A"/>
                </a:solidFill>
                <a:latin typeface="Arial"/>
              </a:rPr>
              <a:t>16. Alhamed, M. (2022). JOSSE: A Software Development Effort Dataset Annotated with Expert Estimates. Zenodo, DOI 10.5281/zenodo.7022735. Y SEERA dataset, PROMISE, ACM, 2020, Zenodo, DOI 10.5281/zenodo.4066438.</a:t>
            </a:r>
          </a:p>
          <a:p>
            <a:pPr algn="l">
              <a:lnSpc>
                <a:spcPct val="110000"/>
              </a:lnSpc>
              <a:spcAft>
                <a:spcPts val="500"/>
              </a:spcAft>
            </a:pPr>
            <a:r>
              <a:rPr sz="1200" b="0" i="0">
                <a:solidFill>
                  <a:srgbClr val="1A1A1A"/>
                </a:solidFill>
                <a:latin typeface="Arial"/>
              </a:rPr>
              <a:t>17. Strand Partners para AWS. Desbloqueando el potencial de la IA en México 2026. 13 de agosto de 2026.</a:t>
            </a:r>
          </a:p>
          <a:p>
            <a:pPr algn="l">
              <a:lnSpc>
                <a:spcPct val="110000"/>
              </a:lnSpc>
              <a:spcAft>
                <a:spcPts val="500"/>
              </a:spcAft>
            </a:pPr>
            <a:r>
              <a:rPr sz="1200" b="0" i="0">
                <a:solidFill>
                  <a:srgbClr val="1A1A1A"/>
                </a:solidFill>
                <a:latin typeface="Arial"/>
              </a:rPr>
              <a:t>18. ATDT. Llave MX y Repositorio Nacional de Tecnología para gobiernos estatales y municipales. 7 de diciembre de 2025.</a:t>
            </a:r>
          </a:p>
          <a:p>
            <a:pPr algn="l">
              <a:lnSpc>
                <a:spcPct val="110000"/>
              </a:lnSpc>
              <a:spcAft>
                <a:spcPts val="500"/>
              </a:spcAft>
            </a:pPr>
            <a:r>
              <a:rPr sz="1200" b="0" i="0">
                <a:solidFill>
                  <a:srgbClr val="1A1A1A"/>
                </a:solidFill>
                <a:latin typeface="Arial"/>
              </a:rPr>
              <a:t>19. CIAPEM y tapi. Diagnóstico Nacional 2026 de recaudación digital. ciapem.org. 2026.</a:t>
            </a:r>
          </a:p>
          <a:p>
            <a:pPr algn="l">
              <a:lnSpc>
                <a:spcPct val="110000"/>
              </a:lnSpc>
              <a:spcAft>
                <a:spcPts val="500"/>
              </a:spcAft>
            </a:pPr>
            <a:r>
              <a:rPr sz="1200" b="0" i="0">
                <a:solidFill>
                  <a:srgbClr val="1A1A1A"/>
                </a:solidFill>
                <a:latin typeface="Arial"/>
              </a:rPr>
              <a:t>20. Code for America. Government AI Landscape Assessment, segunda edición. 1 de mayo de 2026.</a:t>
            </a:r>
          </a:p>
          <a:p>
            <a:pPr algn="l">
              <a:lnSpc>
                <a:spcPct val="110000"/>
              </a:lnSpc>
              <a:spcAft>
                <a:spcPts val="500"/>
              </a:spcAft>
            </a:pPr>
            <a:r>
              <a:rPr sz="1200" b="0" i="0">
                <a:solidFill>
                  <a:srgbClr val="1A1A1A"/>
                </a:solidFill>
                <a:latin typeface="Arial"/>
              </a:rPr>
              <a:t>21. BID Lab y Red de Innovación Local. GovTech Connect. 2026.</a:t>
            </a:r>
          </a:p>
          <a:p>
            <a:pPr algn="l">
              <a:lnSpc>
                <a:spcPct val="110000"/>
              </a:lnSpc>
              <a:spcAft>
                <a:spcPts val="500"/>
              </a:spcAft>
            </a:pPr>
            <a:r>
              <a:rPr sz="1200" b="0" i="0">
                <a:solidFill>
                  <a:srgbClr val="1A1A1A"/>
                </a:solidFill>
                <a:latin typeface="Arial"/>
              </a:rPr>
              <a:t>22. Páginas de precios consultadas el 9 de septiembre de 2026: GitHub Copilot, Cursor, Anthropic Claude, Microsoft Power Apps, Google Gemini Code Assist. Banxico, tipo de cambio FIX.</a:t>
            </a:r>
          </a:p>
          <a:p>
            <a:pPr algn="l">
              <a:lnSpc>
                <a:spcPct val="110000"/>
              </a:lnSpc>
              <a:spcAft>
                <a:spcPts val="500"/>
              </a:spcAft>
            </a:pPr>
            <a:r>
              <a:rPr sz="1200" b="0" i="0">
                <a:solidFill>
                  <a:srgbClr val="1A1A1A"/>
                </a:solidFill>
                <a:latin typeface="Arial"/>
              </a:rPr>
              <a:t>23. Flores Rodríguez, R. Artículo: Estimación temprana de esfuerzo, tiempo y costo en proyectos de software para gobiernos municipales. Análisis cuantitativo preliminar con datasets públicos. Septiembre de 2026.</a:t>
            </a:r>
          </a:p>
          <a:p>
            <a:pPr algn="l">
              <a:lnSpc>
                <a:spcPct val="110000"/>
              </a:lnSpc>
              <a:spcAft>
                <a:spcPts val="500"/>
              </a:spcAft>
            </a:pPr>
            <a:r>
              <a:rPr sz="1200" b="0" i="0">
                <a:solidFill>
                  <a:srgbClr val="1A1A1A"/>
                </a:solidFill>
                <a:latin typeface="Arial"/>
              </a:rPr>
              <a:t>24. Flores Rodríguez, R. Actividad 1, Radiografía de mi tesis. Seminario de Tesis, UAZ. Agosto de 2026.</a:t>
            </a:r>
          </a:p>
          <a:p>
            <a:pPr algn="l">
              <a:lnSpc>
                <a:spcPct val="110000"/>
              </a:lnSpc>
              <a:spcAft>
                <a:spcPts val="500"/>
              </a:spcAft>
            </a:pPr>
            <a:r>
              <a:rPr sz="1200" b="0" i="0">
                <a:solidFill>
                  <a:srgbClr val="1A1A1A"/>
                </a:solidFill>
                <a:latin typeface="Arial"/>
              </a:rPr>
              <a:t>25. Leyes y fuentes oficiales: LIVA, LISR, LSS, LFT, LINFONAVIT; DOF, CONASAMI, IMSS; Secretaría de Finanzas de Zacatecas (impuesto sobre nómina 2026).</a:t>
            </a:r>
          </a:p>
        </p:txBody>
      </p:sp>
      <p:sp>
        <p:nvSpPr>
          <p:cNvPr id="5" name="TextBox 4"/>
          <p:cNvSpPr txBox="1"/>
          <p:nvPr/>
        </p:nvSpPr>
        <p:spPr>
          <a:xfrm>
            <a:off x="10820095" y="6473952"/>
            <a:ext cx="731520" cy="274320"/>
          </a:xfrm>
          <a:prstGeom prst="rect">
            <a:avLst/>
          </a:prstGeom>
          <a:noFill/>
        </p:spPr>
        <p:txBody>
          <a:bodyPr wrap="square" anchor="t" lIns="45720" rIns="45720" tIns="27432" bIns="27432">
            <a:spAutoFit/>
          </a:bodyPr>
          <a:lstStyle/>
          <a:p>
            <a:pPr algn="r">
              <a:lnSpc>
                <a:spcPct val="120000"/>
              </a:lnSpc>
              <a:spcAft>
                <a:spcPts val="1000"/>
              </a:spcAft>
            </a:pPr>
            <a:r>
              <a:rPr sz="1200" b="0" i="0">
                <a:solidFill>
                  <a:srgbClr val="1A1A1A"/>
                </a:solidFill>
                <a:latin typeface="Arial"/>
              </a:rPr>
              <a:t>32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